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1078992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000" b="1">
                <a:solidFill>
                  <a:srgbClr val="00C1CE"/>
                </a:solidFill>
                <a:latin typeface="Arimo"/>
              </a:rPr>
              <a:t>G9 · Python C · Unit 1 · Meeting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5943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3000" b="1">
                <a:solidFill>
                  <a:srgbClr val="F2F7FF"/>
                </a:solidFill>
                <a:latin typeface="Arimo"/>
              </a:rPr>
              <a:t>Representation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87168"/>
            <a:ext cx="10332720" cy="5486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2300" b="0">
                <a:solidFill>
                  <a:srgbClr val="DCE7F4"/>
                </a:solidFill>
                <a:latin typeface="Arimo"/>
              </a:rPr>
              <a:t>Unit 1 Checkpoint - לבחור ייצוג, לעבד ולהסביר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86200"/>
            <a:ext cx="9966960" cy="3200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50" b="1">
                <a:solidFill>
                  <a:srgbClr val="F59F00"/>
                </a:solidFill>
                <a:latin typeface="Arimo"/>
              </a:rPr>
              <a:t>Read → Plan → Choose → Build → Test → Debug → Explain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892040"/>
            <a:ext cx="1014984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150" b="0">
                <a:solidFill>
                  <a:srgbClr val="A8BBD3"/>
                </a:solidFill>
                <a:latin typeface="Arimo"/>
              </a:rPr>
              <a:t>List/Tuple/Set/Dictionary · complex data · algorithmic patterns · ownership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מה נמצא בתוך השיעור?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429000" cy="2057400"/>
          </a:xfrm>
          <a:prstGeom prst="roundRect">
            <a:avLst/>
          </a:prstGeom>
          <a:solidFill>
            <a:srgbClr val="0C2B4F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90472"/>
            <a:ext cx="324612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00C1CE"/>
                </a:solidFill>
                <a:latin typeface="Arimo"/>
              </a:rPr>
              <a:t>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1856232"/>
            <a:ext cx="3136392" cy="1527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600" b="0">
                <a:solidFill>
                  <a:srgbClr val="F2F7FF"/>
                </a:solidFill>
                <a:latin typeface="Arimo"/>
              </a:rPr>
              <a:t>integrated Unit 1 checkpoint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429000" cy="2057400"/>
          </a:xfrm>
          <a:prstGeom prst="roundRect">
            <a:avLst/>
          </a:prstGeom>
          <a:solidFill>
            <a:srgbClr val="0C2B4F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59" y="1490472"/>
            <a:ext cx="324612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F59F00"/>
                </a:solidFill>
                <a:latin typeface="Arimo"/>
              </a:rPr>
              <a:t>FOCUS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5424" y="1856232"/>
            <a:ext cx="3136392" cy="1527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600" b="0">
                <a:solidFill>
                  <a:srgbClr val="F2F7FF"/>
                </a:solidFill>
                <a:latin typeface="Arimo"/>
              </a:rPr>
              <a:t>representation + algorithm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17320"/>
            <a:ext cx="3429000" cy="2057400"/>
          </a:xfrm>
          <a:prstGeom prst="roundRect">
            <a:avLst/>
          </a:prstGeom>
          <a:solidFill>
            <a:srgbClr val="0C2B4F"/>
          </a:solidFill>
          <a:ln>
            <a:solidFill>
              <a:srgbClr val="DD34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490472"/>
            <a:ext cx="324612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DD3479"/>
                </a:solidFill>
                <a:latin typeface="Arimo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3024" y="1856232"/>
            <a:ext cx="3136392" cy="1527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500" b="0">
                <a:solidFill>
                  <a:srgbClr val="F2F7FF"/>
                </a:solidFill>
                <a:latin typeface="Arimo"/>
              </a:rPr>
              <a:t>no OOP before Unit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069080"/>
            <a:ext cx="5029200" cy="1371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50">
                <a:solidFill>
                  <a:srgbClr val="A8BBD3"/>
                </a:solidFill>
                <a:latin typeface="Arimo"/>
              </a:rPr>
              <a:t>• completes the final 2h of the official complex-data algorithm block</a:t>
            </a:r>
          </a:p>
          <a:p>
            <a:pPr algn="r" rtl="1">
              <a:spcAft>
                <a:spcPts val="400"/>
              </a:spcAft>
            </a:pPr>
            <a:r>
              <a:rPr sz="1350">
                <a:solidFill>
                  <a:srgbClr val="A8BBD3"/>
                </a:solidFill>
                <a:latin typeface="Arimo"/>
              </a:rPr>
              <a:t>• checkpoint is embedded inside the 12 official hours</a:t>
            </a:r>
          </a:p>
          <a:p>
            <a:pPr algn="r" rtl="1">
              <a:spcAft>
                <a:spcPts val="400"/>
              </a:spcAft>
            </a:pPr>
            <a:r>
              <a:rPr sz="1350">
                <a:solidFill>
                  <a:srgbClr val="A8BBD3"/>
                </a:solidFill>
                <a:latin typeface="Arimo"/>
              </a:rPr>
              <a:t>• students must justify representation, not only produce output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Checkpoint: אותו dataset, כמה תוצרים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417320"/>
            <a:ext cx="10241280" cy="5943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2300" b="1">
                <a:solidFill>
                  <a:srgbClr val="F2F7FF"/>
                </a:solidFill>
                <a:latin typeface="Arimo"/>
              </a:rPr>
              <a:t>איך הופכים records גולמיים למידע שימושי בלי לאבד את המשמעות של הנתונים?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2788920"/>
            <a:ext cx="4389120" cy="1554480"/>
          </a:xfrm>
          <a:prstGeom prst="roundRect">
            <a:avLst/>
          </a:prstGeom>
          <a:solidFill>
            <a:srgbClr val="0C2B4F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862072"/>
            <a:ext cx="420624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00C1CE"/>
                </a:solidFill>
                <a:latin typeface="Arimo"/>
              </a:rPr>
              <a:t>REPRESENT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6463" y="3227832"/>
            <a:ext cx="4096511" cy="102412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500" b="0">
                <a:solidFill>
                  <a:srgbClr val="F2F7FF"/>
                </a:solidFill>
                <a:latin typeface="Arimo"/>
              </a:rPr>
              <a:t>בחרו structure שמחזיק events ו-records בצורה ברורה.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2788920"/>
            <a:ext cx="4389120" cy="1554480"/>
          </a:xfrm>
          <a:prstGeom prst="roundRect">
            <a:avLst/>
          </a:prstGeom>
          <a:solidFill>
            <a:srgbClr val="0C2B4F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79" y="2862072"/>
            <a:ext cx="420624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F59F00"/>
                </a:solidFill>
                <a:latin typeface="Arimo"/>
              </a:rPr>
              <a:t>DERIVE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8544" y="3227832"/>
            <a:ext cx="4096511" cy="102412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500" b="0">
                <a:solidFill>
                  <a:srgbClr val="F2F7FF"/>
                </a:solidFill>
                <a:latin typeface="Arimo"/>
              </a:rPr>
              <a:t>סרקו ובנו summaries חדשים: Set / Dictionary / totals.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983480"/>
            <a:ext cx="996696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50" b="0">
                <a:solidFill>
                  <a:srgbClr val="A8BBD3"/>
                </a:solidFill>
                <a:latin typeface="Arimo"/>
              </a:rPr>
              <a:t>התוצר נבדק גם לפי reasoning וגם לפי code.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המודל המנטלי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789920" cy="6400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2700" b="1">
                <a:solidFill>
                  <a:srgbClr val="00C1CE"/>
                </a:solidFill>
                <a:latin typeface="Arimo"/>
              </a:rPr>
              <a:t>problem → representation → algorithm → derived data → explanation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063240"/>
            <a:ext cx="9692640" cy="6400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700" b="0">
                <a:solidFill>
                  <a:srgbClr val="DCE7F4"/>
                </a:solidFill>
                <a:latin typeface="Arimo"/>
              </a:rPr>
              <a:t>Unit 1 נסגר רק כאשר התלמיד יודע לבחור structure, לעבד אותו ולנמק את הבחירה.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מה ה-checkpoint בודק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2505456" cy="3566160"/>
          </a:xfrm>
          <a:prstGeom prst="roundRect">
            <a:avLst/>
          </a:prstGeom>
          <a:solidFill>
            <a:srgbClr val="0C2B4F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90472"/>
            <a:ext cx="2322576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00C1CE"/>
                </a:solidFill>
                <a:latin typeface="Arimo"/>
              </a:rPr>
              <a:t>REPRESENT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" y="1856232"/>
            <a:ext cx="2212848" cy="303580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50" b="0">
                <a:solidFill>
                  <a:srgbClr val="F2F7FF"/>
                </a:solidFill>
                <a:latin typeface="Arimo"/>
              </a:rPr>
              <a:t>List / Tuple / Set / Dictionary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47288" y="1417320"/>
            <a:ext cx="2505456" cy="3566160"/>
          </a:xfrm>
          <a:prstGeom prst="roundRect">
            <a:avLst/>
          </a:prstGeom>
          <a:solidFill>
            <a:srgbClr val="0C2B4F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38728" y="1490472"/>
            <a:ext cx="2322576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F59F00"/>
                </a:solidFill>
                <a:latin typeface="Arimo"/>
              </a:rPr>
              <a:t>PROCESS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3592" y="1856232"/>
            <a:ext cx="2212848" cy="303580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50" b="0">
                <a:solidFill>
                  <a:srgbClr val="F2F7FF"/>
                </a:solidFill>
                <a:latin typeface="Arimo"/>
              </a:rPr>
              <a:t>search · count · sum · min/max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1417320"/>
            <a:ext cx="2505456" cy="3566160"/>
          </a:xfrm>
          <a:prstGeom prst="roundRect">
            <a:avLst/>
          </a:prstGeom>
          <a:solidFill>
            <a:srgbClr val="0C2B4F"/>
          </a:solidFill>
          <a:ln>
            <a:solidFill>
              <a:srgbClr val="DD34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0216" y="1490472"/>
            <a:ext cx="2322576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DD3479"/>
                </a:solidFill>
                <a:latin typeface="Arimo"/>
              </a:rPr>
              <a:t>DERIVE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856232"/>
            <a:ext cx="2212848" cy="303580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50" b="0">
                <a:solidFill>
                  <a:srgbClr val="F2F7FF"/>
                </a:solidFill>
                <a:latin typeface="Arimo"/>
              </a:rPr>
              <a:t>build a new collection/mapping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70264" y="1417320"/>
            <a:ext cx="2505456" cy="3566160"/>
          </a:xfrm>
          <a:prstGeom prst="roundRect">
            <a:avLst/>
          </a:prstGeom>
          <a:solidFill>
            <a:srgbClr val="0C2B4F"/>
          </a:solidFill>
          <a:ln>
            <a:solidFill>
              <a:srgbClr val="75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61704" y="1490472"/>
            <a:ext cx="2322576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75B4FF"/>
                </a:solidFill>
                <a:latin typeface="Arimo"/>
              </a:rPr>
              <a:t>EXPLAIN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16568" y="1856232"/>
            <a:ext cx="2212848" cy="303580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50" b="0">
                <a:solidFill>
                  <a:srgbClr val="F2F7FF"/>
                </a:solidFill>
                <a:latin typeface="Arimo"/>
              </a:rPr>
              <a:t>why this structure and state?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257800"/>
            <a:ext cx="10515600" cy="3474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300" b="0">
                <a:solidFill>
                  <a:srgbClr val="A8BBD3"/>
                </a:solidFill>
                <a:latin typeface="Arimo"/>
              </a:rPr>
              <a:t>אין ניקוד “על תחביר יפה” אם הייצוג או האלגוריתם לא מתאימים לבעיה.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Starter: אל תריצו עדיין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98448"/>
            <a:ext cx="5943600" cy="4389120"/>
          </a:xfrm>
          <a:prstGeom prst="roundRect">
            <a:avLst/>
          </a:prstGeom>
          <a:solidFill>
            <a:srgbClr val="113660"/>
          </a:solidFill>
          <a:ln>
            <a:solidFill>
              <a:srgbClr val="1857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09728" tIns="109728" bIns="73152"/>
          <a:lstStyle/>
          <a:p>
            <a:pPr algn="l"/>
            <a:r>
              <a:rPr sz="1150">
                <a:solidFill>
                  <a:srgbClr val="F2F7FF"/>
                </a:solidFill>
                <a:latin typeface="DejaVu Sans Mono"/>
              </a:rPr>
              <a:t>reads = [</a:t>
            </a:r>
            <a:br/>
            <a:r>
              <a:rPr sz="1150">
                <a:solidFill>
                  <a:srgbClr val="F2F7FF"/>
                </a:solidFill>
                <a:latin typeface="DejaVu Sans Mono"/>
              </a:rPr>
              <a:t>    ("Dana", "Fantasy", 120),</a:t>
            </a:r>
            <a:br/>
            <a:r>
              <a:rPr sz="1150">
                <a:solidFill>
                  <a:srgbClr val="F2F7FF"/>
                </a:solidFill>
                <a:latin typeface="DejaVu Sans Mono"/>
              </a:rPr>
              <a:t>    ("Ali", "Science", 80),</a:t>
            </a:r>
            <a:br/>
            <a:r>
              <a:rPr sz="1150">
                <a:solidFill>
                  <a:srgbClr val="F2F7FF"/>
                </a:solidFill>
                <a:latin typeface="DejaVu Sans Mono"/>
              </a:rPr>
              <a:t>    ("Dana", "Mystery", 60),</a:t>
            </a:r>
            <a:br/>
            <a:r>
              <a:rPr sz="1150">
                <a:solidFill>
                  <a:srgbClr val="F2F7FF"/>
                </a:solidFill>
                <a:latin typeface="DejaVu Sans Mono"/>
              </a:rPr>
              <a:t>    ("Maya", "Fantasy", 150),</a:t>
            </a:r>
            <a:br/>
            <a:r>
              <a:rPr sz="1150">
                <a:solidFill>
                  <a:srgbClr val="F2F7FF"/>
                </a:solidFill>
                <a:latin typeface="DejaVu Sans Mono"/>
              </a:rPr>
              <a:t>    ("Ali", "Fantasy", 40)</a:t>
            </a:r>
            <a:br/>
            <a:r>
              <a:rPr sz="1150">
                <a:solidFill>
                  <a:srgbClr val="F2F7FF"/>
                </a:solidFill>
                <a:latin typeface="DejaVu Sans Mono"/>
              </a:rPr>
              <a:t>]</a:t>
            </a:r>
            <a:br/>
            <a:br/>
            <a:r>
              <a:rPr sz="1150">
                <a:solidFill>
                  <a:srgbClr val="F2F7FF"/>
                </a:solidFill>
                <a:latin typeface="DejaVu Sans Mono"/>
              </a:rPr>
              <a:t># Build your analysis below.</a:t>
            </a:r>
            <a:br/>
            <a:r>
              <a:rPr sz="1150">
                <a:solidFill>
                  <a:srgbClr val="F2F7FF"/>
                </a:solidFill>
                <a:latin typeface="DejaVu Sans Mono"/>
              </a:rPr>
              <a:t># Do not change the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95160" y="1554480"/>
            <a:ext cx="4389120" cy="2926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>
                <a:solidFill>
                  <a:srgbClr val="F2F7FF"/>
                </a:solidFill>
                <a:latin typeface="Arimo"/>
              </a:rPr>
              <a:t>• מה מייצג כל tuple?</a:t>
            </a:r>
          </a:p>
          <a:p>
            <a:pPr algn="r" rtl="1">
              <a:spcAft>
                <a:spcPts val="400"/>
              </a:spcAft>
            </a:pPr>
            <a:r>
              <a:rPr sz="1500">
                <a:solidFill>
                  <a:srgbClr val="F2F7FF"/>
                </a:solidFill>
                <a:latin typeface="Arimo"/>
              </a:rPr>
              <a:t>• למה outer List מתאים ל-log של events?</a:t>
            </a:r>
          </a:p>
          <a:p>
            <a:pPr algn="r" rtl="1">
              <a:spcAft>
                <a:spcPts val="400"/>
              </a:spcAft>
            </a:pPr>
            <a:r>
              <a:rPr sz="1500">
                <a:solidFill>
                  <a:srgbClr val="F2F7FF"/>
                </a:solidFill>
                <a:latin typeface="Arimo"/>
              </a:rPr>
              <a:t>• איזה structure מתאים ל-genres ייחודיים?</a:t>
            </a:r>
          </a:p>
          <a:p>
            <a:pPr algn="r" rtl="1">
              <a:spcAft>
                <a:spcPts val="400"/>
              </a:spcAft>
            </a:pPr>
            <a:r>
              <a:rPr sz="1500">
                <a:solidFill>
                  <a:srgbClr val="F2F7FF"/>
                </a:solidFill>
                <a:latin typeface="Arimo"/>
              </a:rPr>
              <a:t>• איזה structure מתאים ל-total pages לפי student?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4572000"/>
            <a:ext cx="3840480" cy="841248"/>
          </a:xfrm>
          <a:prstGeom prst="roundRect">
            <a:avLst/>
          </a:prstGeom>
          <a:solidFill>
            <a:srgbClr val="0C2B4F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4645152"/>
            <a:ext cx="365760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050" b="1">
                <a:solidFill>
                  <a:srgbClr val="00C1CE"/>
                </a:solidFill>
                <a:latin typeface="Arimo"/>
              </a:rPr>
              <a:t>PREDICTION IS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70064" y="5010912"/>
            <a:ext cx="3547872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00" b="0">
                <a:solidFill>
                  <a:srgbClr val="F2F7FF"/>
                </a:solidFill>
                <a:latin typeface="Arimo"/>
              </a:rPr>
              <a:t>Plan before code: write the structure for each result.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Misconception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5074920" cy="1508760"/>
          </a:xfrm>
          <a:prstGeom prst="roundRect">
            <a:avLst/>
          </a:prstGeom>
          <a:solidFill>
            <a:srgbClr val="0C2B4F"/>
          </a:solidFill>
          <a:ln>
            <a:solidFill>
              <a:srgbClr val="DD34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0472"/>
            <a:ext cx="489204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100" b="1">
                <a:solidFill>
                  <a:srgbClr val="DD3479"/>
                </a:solidFill>
                <a:latin typeface="Arimo"/>
              </a:rPr>
              <a:t>Myth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" y="1856232"/>
            <a:ext cx="4782312" cy="978407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00" b="0">
                <a:solidFill>
                  <a:srgbClr val="F2F7FF"/>
                </a:solidFill>
                <a:latin typeface="Arimo"/>
              </a:rPr>
              <a:t>צריך לבחור structure אחד לכל הבעיה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417320"/>
            <a:ext cx="5074920" cy="1508760"/>
          </a:xfrm>
          <a:prstGeom prst="roundRect">
            <a:avLst/>
          </a:prstGeom>
          <a:solidFill>
            <a:srgbClr val="0C2B4F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490472"/>
            <a:ext cx="489204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100" b="1">
                <a:solidFill>
                  <a:srgbClr val="F59F00"/>
                </a:solidFill>
                <a:latin typeface="Arimo"/>
              </a:rPr>
              <a:t>Myth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1384" y="1856232"/>
            <a:ext cx="4782312" cy="978407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00" b="0">
                <a:solidFill>
                  <a:srgbClr val="F2F7FF"/>
                </a:solidFill>
                <a:latin typeface="Arimo"/>
              </a:rPr>
              <a:t>Set יכול לשמור כמה pages שייכים לכל student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429000"/>
            <a:ext cx="5074920" cy="1508760"/>
          </a:xfrm>
          <a:prstGeom prst="roundRect">
            <a:avLst/>
          </a:prstGeom>
          <a:solidFill>
            <a:srgbClr val="0C2B4F"/>
          </a:solidFill>
          <a:ln>
            <a:solidFill>
              <a:srgbClr val="DD34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02152"/>
            <a:ext cx="489204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100" b="1">
                <a:solidFill>
                  <a:srgbClr val="DD3479"/>
                </a:solidFill>
                <a:latin typeface="Arimo"/>
              </a:rPr>
              <a:t>Myth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867912"/>
            <a:ext cx="4782312" cy="978407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00" b="0">
                <a:solidFill>
                  <a:srgbClr val="F2F7FF"/>
                </a:solidFill>
                <a:latin typeface="Arimo"/>
              </a:rPr>
              <a:t>Dictionary מתאים ל-event log אם אותו student מופיע כמה פעמים בלי aggregation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3429000"/>
            <a:ext cx="5074920" cy="1508760"/>
          </a:xfrm>
          <a:prstGeom prst="roundRect">
            <a:avLst/>
          </a:prstGeom>
          <a:solidFill>
            <a:srgbClr val="0C2B4F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502152"/>
            <a:ext cx="489204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100" b="1">
                <a:solidFill>
                  <a:srgbClr val="F59F00"/>
                </a:solidFill>
                <a:latin typeface="Arimo"/>
              </a:rPr>
              <a:t>Myth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3867912"/>
            <a:ext cx="4782312" cy="978407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00" b="0">
                <a:solidFill>
                  <a:srgbClr val="F2F7FF"/>
                </a:solidFill>
                <a:latin typeface="Arimo"/>
              </a:rPr>
              <a:t>אם התוכנית מדפיסה מספרים נכונים אין צורך להסביר representation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דרך העבודה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286000"/>
            <a:ext cx="1389888" cy="731520"/>
          </a:xfrm>
          <a:prstGeom prst="roundRect">
            <a:avLst/>
          </a:prstGeom>
          <a:solidFill>
            <a:srgbClr val="0C2B4F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359152"/>
            <a:ext cx="1207008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000" b="1">
                <a:solidFill>
                  <a:srgbClr val="00C1CE"/>
                </a:solidFill>
                <a:latin typeface="Arimo"/>
              </a:rPr>
              <a:t>Read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" y="2724912"/>
            <a:ext cx="109728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84248" y="2450592"/>
            <a:ext cx="109728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300" b="1">
                <a:solidFill>
                  <a:srgbClr val="A8BBD3"/>
                </a:solidFill>
                <a:latin typeface="Arimo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93976" y="2286000"/>
            <a:ext cx="1389888" cy="731520"/>
          </a:xfrm>
          <a:prstGeom prst="roundRect">
            <a:avLst/>
          </a:prstGeom>
          <a:solidFill>
            <a:srgbClr val="0C2B4F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85416" y="2359152"/>
            <a:ext cx="1207008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000" b="1">
                <a:solidFill>
                  <a:srgbClr val="F59F00"/>
                </a:solidFill>
                <a:latin typeface="Arimo"/>
              </a:rPr>
              <a:t>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2724912"/>
            <a:ext cx="109728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83864" y="2450592"/>
            <a:ext cx="109728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300" b="1">
                <a:solidFill>
                  <a:srgbClr val="A8BBD3"/>
                </a:solidFill>
                <a:latin typeface="Arimo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93592" y="2286000"/>
            <a:ext cx="1389888" cy="731520"/>
          </a:xfrm>
          <a:prstGeom prst="roundRect">
            <a:avLst/>
          </a:prstGeom>
          <a:solidFill>
            <a:srgbClr val="0C2B4F"/>
          </a:solidFill>
          <a:ln>
            <a:solidFill>
              <a:srgbClr val="DD34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5032" y="2359152"/>
            <a:ext cx="1207008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000" b="1">
                <a:solidFill>
                  <a:srgbClr val="DD3479"/>
                </a:solidFill>
                <a:latin typeface="Arimo"/>
              </a:rPr>
              <a:t>Choose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9896" y="2724912"/>
            <a:ext cx="109728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83480" y="2450592"/>
            <a:ext cx="109728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300" b="1">
                <a:solidFill>
                  <a:srgbClr val="A8BBD3"/>
                </a:solidFill>
                <a:latin typeface="Arimo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93208" y="2286000"/>
            <a:ext cx="1389888" cy="731520"/>
          </a:xfrm>
          <a:prstGeom prst="roundRect">
            <a:avLst/>
          </a:prstGeom>
          <a:solidFill>
            <a:srgbClr val="0C2B4F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84648" y="2359152"/>
            <a:ext cx="1207008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000" b="1">
                <a:solidFill>
                  <a:srgbClr val="00C1CE"/>
                </a:solidFill>
                <a:latin typeface="Arimo"/>
              </a:rPr>
              <a:t>Build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9512" y="2724912"/>
            <a:ext cx="109728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3096" y="2450592"/>
            <a:ext cx="109728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300" b="1">
                <a:solidFill>
                  <a:srgbClr val="A8BBD3"/>
                </a:solidFill>
                <a:latin typeface="Arimo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92824" y="2286000"/>
            <a:ext cx="1389888" cy="731520"/>
          </a:xfrm>
          <a:prstGeom prst="roundRect">
            <a:avLst/>
          </a:prstGeom>
          <a:solidFill>
            <a:srgbClr val="0C2B4F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84264" y="2359152"/>
            <a:ext cx="1207008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000" b="1">
                <a:solidFill>
                  <a:srgbClr val="F59F00"/>
                </a:solidFill>
                <a:latin typeface="Arimo"/>
              </a:rPr>
              <a:t>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39128" y="2724912"/>
            <a:ext cx="109728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82712" y="2450592"/>
            <a:ext cx="109728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300" b="1">
                <a:solidFill>
                  <a:srgbClr val="A8BBD3"/>
                </a:solidFill>
                <a:latin typeface="Arimo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2286000"/>
            <a:ext cx="1389888" cy="731520"/>
          </a:xfrm>
          <a:prstGeom prst="roundRect">
            <a:avLst/>
          </a:prstGeom>
          <a:solidFill>
            <a:srgbClr val="0C2B4F"/>
          </a:solidFill>
          <a:ln>
            <a:solidFill>
              <a:srgbClr val="DD34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3880" y="2359152"/>
            <a:ext cx="1207008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000" b="1">
                <a:solidFill>
                  <a:srgbClr val="DD3479"/>
                </a:solidFill>
                <a:latin typeface="Arimo"/>
              </a:rPr>
              <a:t>Debug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38744" y="2724912"/>
            <a:ext cx="109728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82328" y="2450592"/>
            <a:ext cx="109728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300" b="1">
                <a:solidFill>
                  <a:srgbClr val="A8BBD3"/>
                </a:solidFill>
                <a:latin typeface="Arimo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92056" y="2286000"/>
            <a:ext cx="1389888" cy="731520"/>
          </a:xfrm>
          <a:prstGeom prst="roundRect">
            <a:avLst/>
          </a:prstGeom>
          <a:solidFill>
            <a:srgbClr val="0C2B4F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83496" y="2359152"/>
            <a:ext cx="1207008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000" b="1">
                <a:solidFill>
                  <a:srgbClr val="00C1CE"/>
                </a:solidFill>
                <a:latin typeface="Arimo"/>
              </a:rPr>
              <a:t>Explain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38360" y="2724912"/>
            <a:ext cx="109728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3931920"/>
            <a:ext cx="10332720" cy="5486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600" b="0">
                <a:solidFill>
                  <a:srgbClr val="DCE7F4"/>
                </a:solidFill>
                <a:latin typeface="Arimo"/>
              </a:rPr>
              <a:t>Checkpoint workflow: spec → structure plan → state variables → code → tests → explanation.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Lab Progression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10561320" cy="502920"/>
          </a:xfrm>
          <a:prstGeom prst="roundRect">
            <a:avLst/>
          </a:prstGeom>
          <a:solidFill>
            <a:srgbClr val="0A2748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35607"/>
            <a:ext cx="105156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050" b="1">
                <a:solidFill>
                  <a:srgbClr val="00C1CE"/>
                </a:solidFill>
                <a:latin typeface="Arimo"/>
              </a:rPr>
              <a:t>0-10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1399032"/>
            <a:ext cx="274320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50" b="1">
                <a:solidFill>
                  <a:srgbClr val="F2F7FF"/>
                </a:solidFill>
                <a:latin typeface="Arimo"/>
              </a:rPr>
              <a:t>Read specification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399032"/>
            <a:ext cx="621792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080" b="0">
                <a:solidFill>
                  <a:srgbClr val="A8BBD3"/>
                </a:solidFill>
                <a:latin typeface="Arimo"/>
              </a:rPr>
              <a:t>identify inputs/results/constraints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947672"/>
            <a:ext cx="10561320" cy="502920"/>
          </a:xfrm>
          <a:prstGeom prst="roundRect">
            <a:avLst/>
          </a:prstGeom>
          <a:solidFill>
            <a:srgbClr val="0A2748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057400"/>
            <a:ext cx="105156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050" b="1">
                <a:solidFill>
                  <a:srgbClr val="F59F00"/>
                </a:solidFill>
                <a:latin typeface="Arimo"/>
              </a:rPr>
              <a:t>10-20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2020824"/>
            <a:ext cx="274320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50" b="1">
                <a:solidFill>
                  <a:srgbClr val="F2F7FF"/>
                </a:solidFill>
                <a:latin typeface="Arimo"/>
              </a:rPr>
              <a:t>Representation 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020824"/>
            <a:ext cx="621792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080" b="0">
                <a:solidFill>
                  <a:srgbClr val="A8BBD3"/>
                </a:solidFill>
                <a:latin typeface="Arimo"/>
              </a:rPr>
              <a:t>choose structures before coding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569464"/>
            <a:ext cx="10561320" cy="502920"/>
          </a:xfrm>
          <a:prstGeom prst="roundRect">
            <a:avLst/>
          </a:prstGeom>
          <a:solidFill>
            <a:srgbClr val="0A2748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679192"/>
            <a:ext cx="105156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050" b="1">
                <a:solidFill>
                  <a:srgbClr val="00C1CE"/>
                </a:solidFill>
                <a:latin typeface="Arimo"/>
              </a:rPr>
              <a:t>20-35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2642616"/>
            <a:ext cx="274320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50" b="1">
                <a:solidFill>
                  <a:srgbClr val="F2F7FF"/>
                </a:solidFill>
                <a:latin typeface="Arimo"/>
              </a:rPr>
              <a:t>Core scan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642616"/>
            <a:ext cx="621792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080" b="0">
                <a:solidFill>
                  <a:srgbClr val="A8BBD3"/>
                </a:solidFill>
                <a:latin typeface="Arimo"/>
              </a:rPr>
              <a:t>total pages + count large entries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191256"/>
            <a:ext cx="10561320" cy="502920"/>
          </a:xfrm>
          <a:prstGeom prst="roundRect">
            <a:avLst/>
          </a:prstGeom>
          <a:solidFill>
            <a:srgbClr val="0A2748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300984"/>
            <a:ext cx="105156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050" b="1">
                <a:solidFill>
                  <a:srgbClr val="F59F00"/>
                </a:solidFill>
                <a:latin typeface="Arimo"/>
              </a:rPr>
              <a:t>35-48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3264408"/>
            <a:ext cx="274320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50" b="1">
                <a:solidFill>
                  <a:srgbClr val="F2F7FF"/>
                </a:solidFill>
                <a:latin typeface="Arimo"/>
              </a:rPr>
              <a:t>Derived Set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3264408"/>
            <a:ext cx="621792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080" b="0">
                <a:solidFill>
                  <a:srgbClr val="A8BBD3"/>
                </a:solidFill>
                <a:latin typeface="Arimo"/>
              </a:rPr>
              <a:t>unique genres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813048"/>
            <a:ext cx="10561320" cy="502920"/>
          </a:xfrm>
          <a:prstGeom prst="roundRect">
            <a:avLst/>
          </a:prstGeom>
          <a:solidFill>
            <a:srgbClr val="0A2748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922776"/>
            <a:ext cx="105156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050" b="1">
                <a:solidFill>
                  <a:srgbClr val="00C1CE"/>
                </a:solidFill>
                <a:latin typeface="Arimo"/>
              </a:rPr>
              <a:t>48-63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3886200"/>
            <a:ext cx="274320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50" b="1">
                <a:solidFill>
                  <a:srgbClr val="F2F7FF"/>
                </a:solidFill>
                <a:latin typeface="Arimo"/>
              </a:rPr>
              <a:t>Derived Dictionary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3886200"/>
            <a:ext cx="621792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080" b="0">
                <a:solidFill>
                  <a:srgbClr val="A8BBD3"/>
                </a:solidFill>
                <a:latin typeface="Arimo"/>
              </a:rPr>
              <a:t>accumulate pages by student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434840"/>
            <a:ext cx="10561320" cy="502920"/>
          </a:xfrm>
          <a:prstGeom prst="roundRect">
            <a:avLst/>
          </a:prstGeom>
          <a:solidFill>
            <a:srgbClr val="0A2748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4544568"/>
            <a:ext cx="105156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050" b="1">
                <a:solidFill>
                  <a:srgbClr val="F59F00"/>
                </a:solidFill>
                <a:latin typeface="Arimo"/>
              </a:rPr>
              <a:t>63-76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4507992"/>
            <a:ext cx="274320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50" b="1">
                <a:solidFill>
                  <a:srgbClr val="F2F7FF"/>
                </a:solidFill>
                <a:latin typeface="Arimo"/>
              </a:rPr>
              <a:t>Top reader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4507992"/>
            <a:ext cx="621792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080" b="0">
                <a:solidFill>
                  <a:srgbClr val="A8BBD3"/>
                </a:solidFill>
                <a:latin typeface="Arimo"/>
              </a:rPr>
              <a:t>scan derived dictionary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5056631"/>
            <a:ext cx="10561320" cy="502920"/>
          </a:xfrm>
          <a:prstGeom prst="roundRect">
            <a:avLst/>
          </a:prstGeom>
          <a:solidFill>
            <a:srgbClr val="0A2748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5166359"/>
            <a:ext cx="105156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050" b="1">
                <a:solidFill>
                  <a:srgbClr val="00C1CE"/>
                </a:solidFill>
                <a:latin typeface="Arimo"/>
              </a:rPr>
              <a:t>76-86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5129783"/>
            <a:ext cx="274320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50" b="1">
                <a:solidFill>
                  <a:srgbClr val="F2F7FF"/>
                </a:solidFill>
                <a:latin typeface="Arimo"/>
              </a:rPr>
              <a:t>Test + debug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5129783"/>
            <a:ext cx="621792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080" b="0">
                <a:solidFill>
                  <a:srgbClr val="A8BBD3"/>
                </a:solidFill>
                <a:latin typeface="Arimo"/>
              </a:rPr>
              <a:t>normal + changed dataset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5678423"/>
            <a:ext cx="10561320" cy="502920"/>
          </a:xfrm>
          <a:prstGeom prst="roundRect">
            <a:avLst/>
          </a:prstGeom>
          <a:solidFill>
            <a:srgbClr val="0A2748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5788151"/>
            <a:ext cx="105156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050" b="1">
                <a:solidFill>
                  <a:srgbClr val="F59F00"/>
                </a:solidFill>
                <a:latin typeface="Arimo"/>
              </a:rPr>
              <a:t>86-90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5751575"/>
            <a:ext cx="274320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50" b="1">
                <a:solidFill>
                  <a:srgbClr val="F2F7FF"/>
                </a:solidFill>
                <a:latin typeface="Arimo"/>
              </a:rPr>
              <a:t>Explain + submit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0" y="5751575"/>
            <a:ext cx="621792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080" b="0">
                <a:solidFill>
                  <a:srgbClr val="A8BBD3"/>
                </a:solidFill>
                <a:latin typeface="Arimo"/>
              </a:rPr>
              <a:t>oral/written ownership check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Checkpoint Step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4023360" cy="3200400"/>
          </a:xfrm>
          <a:prstGeom prst="roundRect">
            <a:avLst/>
          </a:prstGeom>
          <a:solidFill>
            <a:srgbClr val="0C2B4F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90472"/>
            <a:ext cx="384048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00C1CE"/>
                </a:solidFill>
                <a:latin typeface="Arimo"/>
              </a:rPr>
              <a:t>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" y="1856232"/>
            <a:ext cx="3730752" cy="2670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500" b="0">
                <a:solidFill>
                  <a:srgbClr val="F2F7FF"/>
                </a:solidFill>
                <a:latin typeface="Arimo"/>
              </a:rPr>
              <a:t>לפני קוד: כתבו מה התפקיד של כל structure.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1554480"/>
            <a:ext cx="548640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800" b="1">
                <a:solidFill>
                  <a:srgbClr val="F2F7FF"/>
                </a:solidFill>
                <a:latin typeface="Arimo"/>
              </a:rPr>
              <a:t>איזה result צריך Set ואיזה result צריך Dictionary?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4983480"/>
            <a:ext cx="5486400" cy="4572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300" b="0">
                <a:solidFill>
                  <a:srgbClr val="A8BBD3"/>
                </a:solidFill>
                <a:latin typeface="Arimo"/>
              </a:rPr>
              <a:t>unique genres → Set; pages by student → Dictionary.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Checkpoint Step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4023360" cy="3246120"/>
          </a:xfrm>
          <a:prstGeom prst="roundRect">
            <a:avLst/>
          </a:prstGeom>
          <a:solidFill>
            <a:srgbClr val="0C2B4F"/>
          </a:solidFill>
          <a:ln>
            <a:solidFill>
              <a:srgbClr val="DD34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90472"/>
            <a:ext cx="384048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DD3479"/>
                </a:solidFill>
                <a:latin typeface="Arimo"/>
              </a:rPr>
              <a:t>AGGREGATE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" y="1856232"/>
            <a:ext cx="3730752" cy="27157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500" b="0">
                <a:solidFill>
                  <a:srgbClr val="F2F7FF"/>
                </a:solidFill>
                <a:latin typeface="Arimo"/>
              </a:rPr>
              <a:t>אותו student יכול להופיע ביותר מ-event אחד.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1554480"/>
            <a:ext cx="548640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800" b="1">
                <a:solidFill>
                  <a:srgbClr val="F2F7FF"/>
                </a:solidFill>
                <a:latin typeface="Arimo"/>
              </a:rPr>
              <a:t>איך צוברים pages ל-key שכבר קיים?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2331720"/>
            <a:ext cx="5486400" cy="2423160"/>
          </a:xfrm>
          <a:prstGeom prst="roundRect">
            <a:avLst/>
          </a:prstGeom>
          <a:solidFill>
            <a:srgbClr val="113660"/>
          </a:solidFill>
          <a:ln>
            <a:solidFill>
              <a:srgbClr val="1857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09728" tIns="109728" bIns="73152"/>
          <a:lstStyle/>
          <a:p>
            <a:pPr algn="l"/>
            <a:r>
              <a:rPr sz="1250">
                <a:solidFill>
                  <a:srgbClr val="F2F7FF"/>
                </a:solidFill>
                <a:latin typeface="DejaVu Sans Mono"/>
              </a:rPr>
              <a:t>if name in pages_by_student:</a:t>
            </a:r>
            <a:br/>
            <a:r>
              <a:rPr sz="1250">
                <a:solidFill>
                  <a:srgbClr val="F2F7FF"/>
                </a:solidFill>
                <a:latin typeface="DejaVu Sans Mono"/>
              </a:rPr>
              <a:t>    pages_by_student[name] += pages</a:t>
            </a:r>
            <a:br/>
            <a:r>
              <a:rPr sz="1250">
                <a:solidFill>
                  <a:srgbClr val="F2F7FF"/>
                </a:solidFill>
                <a:latin typeface="DejaVu Sans Mono"/>
              </a:rPr>
              <a:t>else:</a:t>
            </a:r>
            <a:br/>
            <a:r>
              <a:rPr sz="1250">
                <a:solidFill>
                  <a:srgbClr val="F2F7FF"/>
                </a:solidFill>
                <a:latin typeface="DejaVu Sans Mono"/>
              </a:rPr>
              <a:t>    pages_by_student[name] = pages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4983480"/>
            <a:ext cx="5486400" cy="4572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300" b="0">
                <a:solidFill>
                  <a:srgbClr val="A8BBD3"/>
                </a:solidFill>
                <a:latin typeface="Arimo"/>
              </a:rPr>
              <a:t>Dictionary נגזר מה-event log ומרכז state לפי student.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Protected Core Task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98448"/>
            <a:ext cx="3840480" cy="3931920"/>
          </a:xfrm>
          <a:prstGeom prst="roundRect">
            <a:avLst/>
          </a:prstGeom>
          <a:solidFill>
            <a:srgbClr val="0C2B4F"/>
          </a:solidFill>
          <a:ln>
            <a:solidFill>
              <a:srgbClr val="DD34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365760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DD3479"/>
                </a:solidFill>
                <a:latin typeface="Arimo"/>
              </a:rPr>
              <a:t>PROTECTED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1737360"/>
            <a:ext cx="3547872" cy="34015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2200" b="0">
                <a:solidFill>
                  <a:srgbClr val="F2F7FF"/>
                </a:solidFill>
                <a:latin typeface="Arimo"/>
              </a:rPr>
              <a:t>Reading Challenge Analyzer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2040" y="1371600"/>
            <a:ext cx="6035040" cy="35661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70">
                <a:solidFill>
                  <a:srgbClr val="F2F7FF"/>
                </a:solidFill>
                <a:latin typeface="Arimo"/>
              </a:rPr>
              <a:t>• השתמשו ב-List of Tuples הנתון כ-event log</a:t>
            </a:r>
          </a:p>
          <a:p>
            <a:pPr algn="r" rtl="1">
              <a:spcAft>
                <a:spcPts val="400"/>
              </a:spcAft>
            </a:pPr>
            <a:r>
              <a:rPr sz="1470">
                <a:solidFill>
                  <a:srgbClr val="F2F7FF"/>
                </a:solidFill>
                <a:latin typeface="Arimo"/>
              </a:rPr>
              <a:t>• חשבו total pages ידנית בלולאה</a:t>
            </a:r>
          </a:p>
          <a:p>
            <a:pPr algn="r" rtl="1">
              <a:spcAft>
                <a:spcPts val="400"/>
              </a:spcAft>
            </a:pPr>
            <a:r>
              <a:rPr sz="1470">
                <a:solidFill>
                  <a:srgbClr val="F2F7FF"/>
                </a:solidFill>
                <a:latin typeface="Arimo"/>
              </a:rPr>
              <a:t>• ספרו כמה entries הם לפחות 100 pages</a:t>
            </a:r>
          </a:p>
          <a:p>
            <a:pPr algn="r" rtl="1">
              <a:spcAft>
                <a:spcPts val="400"/>
              </a:spcAft>
            </a:pPr>
            <a:r>
              <a:rPr sz="1470">
                <a:solidFill>
                  <a:srgbClr val="F2F7FF"/>
                </a:solidFill>
                <a:latin typeface="Arimo"/>
              </a:rPr>
              <a:t>• בנו Set של genres ייחודיים</a:t>
            </a:r>
          </a:p>
          <a:p>
            <a:pPr algn="r" rtl="1">
              <a:spcAft>
                <a:spcPts val="400"/>
              </a:spcAft>
            </a:pPr>
            <a:r>
              <a:rPr sz="1470">
                <a:solidFill>
                  <a:srgbClr val="F2F7FF"/>
                </a:solidFill>
                <a:latin typeface="Arimo"/>
              </a:rPr>
              <a:t>• בנו Dictionary של total pages לכל student</a:t>
            </a:r>
          </a:p>
          <a:p>
            <a:pPr algn="r" rtl="1">
              <a:spcAft>
                <a:spcPts val="400"/>
              </a:spcAft>
            </a:pPr>
            <a:r>
              <a:rPr sz="1470">
                <a:solidFill>
                  <a:srgbClr val="F2F7FF"/>
                </a:solidFill>
                <a:latin typeface="Arimo"/>
              </a:rPr>
              <a:t>• מצאו את top reader מתוך ה-Dictionary</a:t>
            </a:r>
          </a:p>
          <a:p>
            <a:pPr algn="r" rtl="1">
              <a:spcAft>
                <a:spcPts val="400"/>
              </a:spcAft>
            </a:pPr>
            <a:r>
              <a:rPr sz="1470">
                <a:solidFill>
                  <a:srgbClr val="F2F7FF"/>
                </a:solidFill>
                <a:latin typeface="Arimo"/>
              </a:rPr>
              <a:t>• כתבו 2-3 משפטים שמנמקים את בחירת המבנים</a:t>
            </a:r>
          </a:p>
          <a:p>
            <a:pPr algn="r" rtl="1">
              <a:spcAft>
                <a:spcPts val="400"/>
              </a:spcAft>
            </a:pPr>
            <a:r>
              <a:rPr sz="1470">
                <a:solidFill>
                  <a:srgbClr val="F2F7FF"/>
                </a:solidFill>
                <a:latin typeface="Arimo"/>
              </a:rPr>
              <a:t>• בדקו עם לפחות שינוי dataset אחד לפני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5074920"/>
            <a:ext cx="594360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250" b="1">
                <a:solidFill>
                  <a:srgbClr val="F59F00"/>
                </a:solidFill>
                <a:latin typeface="Arimo"/>
              </a:rPr>
              <a:t>זהו checkpoint של Unit 1: representation + algorithm + explanation. אין Classes.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Evidence of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5074920" cy="1325880"/>
          </a:xfrm>
          <a:prstGeom prst="roundRect">
            <a:avLst/>
          </a:prstGeom>
          <a:solidFill>
            <a:srgbClr val="0C2B4F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44752"/>
            <a:ext cx="489204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100" b="1">
                <a:solidFill>
                  <a:srgbClr val="00C1CE"/>
                </a:solidFill>
                <a:latin typeface="Arimo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" y="1810512"/>
            <a:ext cx="4782312" cy="79552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00" b="0">
                <a:solidFill>
                  <a:srgbClr val="F2F7FF"/>
                </a:solidFill>
                <a:latin typeface="Arimo"/>
              </a:rPr>
              <a:t>Choose structures that match the required information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371600"/>
            <a:ext cx="5074920" cy="1325880"/>
          </a:xfrm>
          <a:prstGeom prst="roundRect">
            <a:avLst/>
          </a:prstGeom>
          <a:solidFill>
            <a:srgbClr val="0C2B4F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444752"/>
            <a:ext cx="489204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100" b="1">
                <a:solidFill>
                  <a:srgbClr val="F59F00"/>
                </a:solidFill>
                <a:latin typeface="Arimo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1384" y="1810512"/>
            <a:ext cx="4782312" cy="79552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00" b="0">
                <a:solidFill>
                  <a:srgbClr val="F2F7FF"/>
                </a:solidFill>
                <a:latin typeface="Arimo"/>
              </a:rPr>
              <a:t>Implement traceable aggregation algorithms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063240"/>
            <a:ext cx="5074920" cy="1325880"/>
          </a:xfrm>
          <a:prstGeom prst="roundRect">
            <a:avLst/>
          </a:prstGeom>
          <a:solidFill>
            <a:srgbClr val="0C2B4F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136392"/>
            <a:ext cx="489204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100" b="1">
                <a:solidFill>
                  <a:srgbClr val="00C1CE"/>
                </a:solidFill>
                <a:latin typeface="Arimo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502152"/>
            <a:ext cx="4782312" cy="79552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00" b="0">
                <a:solidFill>
                  <a:srgbClr val="F2F7FF"/>
                </a:solidFill>
                <a:latin typeface="Arimo"/>
              </a:rPr>
              <a:t>Generate Set and Dictionary derived from complex source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3063240"/>
            <a:ext cx="5074920" cy="1325880"/>
          </a:xfrm>
          <a:prstGeom prst="roundRect">
            <a:avLst/>
          </a:prstGeom>
          <a:solidFill>
            <a:srgbClr val="0C2B4F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136392"/>
            <a:ext cx="489204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100" b="1">
                <a:solidFill>
                  <a:srgbClr val="F59F00"/>
                </a:solidFill>
                <a:latin typeface="Arimo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3502152"/>
            <a:ext cx="4782312" cy="79552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00" b="0">
                <a:solidFill>
                  <a:srgbClr val="F2F7FF"/>
                </a:solidFill>
                <a:latin typeface="Arimo"/>
              </a:rPr>
              <a:t>Explain and defend representation/state decisions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83480"/>
            <a:ext cx="1033272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300" b="0">
                <a:solidFill>
                  <a:srgbClr val="A8BBD3"/>
                </a:solidFill>
                <a:latin typeface="Arimo"/>
              </a:rPr>
              <a:t>ה-checkpoint תואם את התוכנית השנתית: בחירת ייצוג + בעיה אלגוריתמית + הסבר.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בדיקת סיום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4754880" cy="3246120"/>
          </a:xfrm>
          <a:prstGeom prst="roundRect">
            <a:avLst/>
          </a:prstGeom>
          <a:solidFill>
            <a:srgbClr val="113660"/>
          </a:solidFill>
          <a:ln>
            <a:solidFill>
              <a:srgbClr val="1857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09728" tIns="109728" bIns="73152"/>
          <a:lstStyle/>
          <a:p>
            <a:pPr algn="l"/>
            <a:r>
              <a:rPr sz="1400">
                <a:solidFill>
                  <a:srgbClr val="F2F7FF"/>
                </a:solidFill>
                <a:latin typeface="DejaVu Sans Mono"/>
              </a:rPr>
              <a:t>reads = [("Dana", 120), ("Ali", 80), ("Dana", 60)]</a:t>
            </a:r>
            <a:br/>
            <a:r>
              <a:rPr sz="1400">
                <a:solidFill>
                  <a:srgbClr val="F2F7FF"/>
                </a:solidFill>
                <a:latin typeface="DejaVu Sans Mono"/>
              </a:rPr>
              <a:t>pages = {}</a:t>
            </a:r>
            <a:br/>
            <a:r>
              <a:rPr sz="1400">
                <a:solidFill>
                  <a:srgbClr val="F2F7FF"/>
                </a:solidFill>
                <a:latin typeface="DejaVu Sans Mono"/>
              </a:rPr>
              <a:t>for record in reads:</a:t>
            </a:r>
            <a:br/>
            <a:r>
              <a:rPr sz="1400">
                <a:solidFill>
                  <a:srgbClr val="F2F7FF"/>
                </a:solidFill>
                <a:latin typeface="DejaVu Sans Mono"/>
              </a:rPr>
              <a:t>    name = record[0]</a:t>
            </a:r>
            <a:br/>
            <a:r>
              <a:rPr sz="1400">
                <a:solidFill>
                  <a:srgbClr val="F2F7FF"/>
                </a:solidFill>
                <a:latin typeface="DejaVu Sans Mono"/>
              </a:rPr>
              <a:t>    amount = record[1]</a:t>
            </a:r>
            <a:br/>
            <a:r>
              <a:rPr sz="1400">
                <a:solidFill>
                  <a:srgbClr val="F2F7FF"/>
                </a:solidFill>
                <a:latin typeface="DejaVu Sans Mono"/>
              </a:rPr>
              <a:t>    if name in pages:</a:t>
            </a:r>
            <a:br/>
            <a:r>
              <a:rPr sz="1400">
                <a:solidFill>
                  <a:srgbClr val="F2F7FF"/>
                </a:solidFill>
                <a:latin typeface="DejaVu Sans Mono"/>
              </a:rPr>
              <a:t>        pages[name] += amount</a:t>
            </a:r>
            <a:br/>
            <a:r>
              <a:rPr sz="1400">
                <a:solidFill>
                  <a:srgbClr val="F2F7FF"/>
                </a:solidFill>
                <a:latin typeface="DejaVu Sans Mono"/>
              </a:rPr>
              <a:t>    else:</a:t>
            </a:r>
            <a:br/>
            <a:r>
              <a:rPr sz="1400">
                <a:solidFill>
                  <a:srgbClr val="F2F7FF"/>
                </a:solidFill>
                <a:latin typeface="DejaVu Sans Mono"/>
              </a:rPr>
              <a:t>        pages[name] = amount</a:t>
            </a:r>
            <a:br/>
            <a:r>
              <a:rPr sz="1400">
                <a:solidFill>
                  <a:srgbClr val="F2F7FF"/>
                </a:solidFill>
                <a:latin typeface="DejaVu Sans Mono"/>
              </a:rPr>
              <a:t>print(pages["Dana"])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417320"/>
            <a:ext cx="484632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800" b="1">
                <a:solidFill>
                  <a:srgbClr val="F2F7FF"/>
                </a:solidFill>
                <a:latin typeface="Arimo"/>
              </a:rPr>
              <a:t>מה יודפס?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2331720"/>
            <a:ext cx="4526280" cy="658368"/>
          </a:xfrm>
          <a:prstGeom prst="roundRect">
            <a:avLst/>
          </a:prstGeom>
          <a:solidFill>
            <a:srgbClr val="0C2B4F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2404872"/>
            <a:ext cx="434340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100" b="1">
                <a:solidFill>
                  <a:srgbClr val="00C1CE"/>
                </a:solidFill>
                <a:latin typeface="Arimo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18504" y="2770632"/>
            <a:ext cx="4233672" cy="12801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00" b="0">
                <a:solidFill>
                  <a:srgbClr val="F2F7FF"/>
                </a:solidFill>
                <a:latin typeface="Arimo"/>
              </a:rPr>
              <a:t>120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172968"/>
            <a:ext cx="4526280" cy="658368"/>
          </a:xfrm>
          <a:prstGeom prst="roundRect">
            <a:avLst/>
          </a:prstGeom>
          <a:solidFill>
            <a:srgbClr val="0C2B4F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3246120"/>
            <a:ext cx="434340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100" b="1">
                <a:solidFill>
                  <a:srgbClr val="F59F00"/>
                </a:solidFill>
                <a:latin typeface="Arimo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18504" y="3611879"/>
            <a:ext cx="4233672" cy="12801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00" b="0">
                <a:solidFill>
                  <a:srgbClr val="F2F7FF"/>
                </a:solidFill>
                <a:latin typeface="Arimo"/>
              </a:rPr>
              <a:t>180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4014215"/>
            <a:ext cx="4526280" cy="658368"/>
          </a:xfrm>
          <a:prstGeom prst="roundRect">
            <a:avLst/>
          </a:prstGeom>
          <a:solidFill>
            <a:srgbClr val="0C2B4F"/>
          </a:solidFill>
          <a:ln>
            <a:solidFill>
              <a:srgbClr val="DD34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4087368"/>
            <a:ext cx="434340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100" b="1">
                <a:solidFill>
                  <a:srgbClr val="DD3479"/>
                </a:solidFill>
                <a:latin typeface="Arimo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8504" y="4453127"/>
            <a:ext cx="4233672" cy="12801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00" b="0">
                <a:solidFill>
                  <a:srgbClr val="F2F7FF"/>
                </a:solidFill>
                <a:latin typeface="Arimo"/>
              </a:rPr>
              <a:t>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5230368"/>
            <a:ext cx="4526280" cy="3657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50" b="0">
                <a:solidFill>
                  <a:srgbClr val="A8BBD3"/>
                </a:solidFill>
                <a:latin typeface="Arimo"/>
              </a:rPr>
              <a:t>אל תריצו לפני שבחרתם תשובה.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מסיימים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5486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2400" b="1">
                <a:solidFill>
                  <a:srgbClr val="00C1CE"/>
                </a:solidFill>
                <a:latin typeface="Arimo"/>
              </a:rPr>
              <a:t>representation → algorithm → derived data → ownership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20116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600">
                <a:solidFill>
                  <a:srgbClr val="F2F7FF"/>
                </a:solidFill>
                <a:latin typeface="Arimo"/>
              </a:rPr>
              <a:t>• Unit 1: List / Tuple / Set / Dictionary</a:t>
            </a:r>
          </a:p>
          <a:p>
            <a:pPr algn="r" rtl="1">
              <a:spcAft>
                <a:spcPts val="400"/>
              </a:spcAft>
            </a:pPr>
            <a:r>
              <a:rPr sz="1600">
                <a:solidFill>
                  <a:srgbClr val="F2F7FF"/>
                </a:solidFill>
                <a:latin typeface="Arimo"/>
              </a:rPr>
              <a:t>• complex records: outer collection + inner fields</a:t>
            </a:r>
          </a:p>
          <a:p>
            <a:pPr algn="r" rtl="1">
              <a:spcAft>
                <a:spcPts val="400"/>
              </a:spcAft>
            </a:pPr>
            <a:r>
              <a:rPr sz="1600">
                <a:solidFill>
                  <a:srgbClr val="F2F7FF"/>
                </a:solidFill>
                <a:latin typeface="Arimo"/>
              </a:rPr>
              <a:t>• patterns: search / count / sum / min/max / derive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66360"/>
            <a:ext cx="1033272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350" b="1">
                <a:solidFill>
                  <a:srgbClr val="F59F00"/>
                </a:solidFill>
                <a:latin typeface="Arimo"/>
              </a:rPr>
              <a:t>Unit 1 סגור. Unit 2 מתחיל Classes &amp; OOP - רק מהמפגש הבא.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