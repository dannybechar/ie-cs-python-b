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789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000" b="1">
                <a:solidFill>
                  <a:srgbClr val="00C1CE"/>
                </a:solidFill>
                <a:latin typeface="Arimo"/>
              </a:rPr>
              <a:t>G9 · Python C · Unit 1 · Meeting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5943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3000" b="1">
                <a:solidFill>
                  <a:srgbClr val="F2F7FF"/>
                </a:solidFill>
                <a:latin typeface="Arimo"/>
              </a:rPr>
              <a:t>Choose the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87168"/>
            <a:ext cx="10332720" cy="5486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2300" b="0">
                <a:solidFill>
                  <a:srgbClr val="DCE7F4"/>
                </a:solidFill>
                <a:latin typeface="Arimo"/>
              </a:rPr>
              <a:t>Bridge: List, Tuple, Set - בוחרים ייצוג מתאים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86200"/>
            <a:ext cx="996696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50" b="1">
                <a:solidFill>
                  <a:srgbClr val="F59F00"/>
                </a:solidFill>
                <a:latin typeface="Arimo"/>
              </a:rPr>
              <a:t>Read → Predict → Compare → Modify → Build → Explain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892040"/>
            <a:ext cx="101498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50" b="0">
                <a:solidFill>
                  <a:srgbClr val="A8BBD3"/>
                </a:solidFill>
                <a:latin typeface="Arimo"/>
              </a:rPr>
              <a:t>List · Tuple · Set · representation choice · first collection scan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מה נמצא בתוך השיעור?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429000" cy="2057400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90472"/>
            <a:ext cx="324612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00C1CE"/>
                </a:solidFill>
                <a:latin typeface="Arimo"/>
              </a:rPr>
              <a:t>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856232"/>
            <a:ext cx="3136392" cy="1527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600" b="0">
                <a:solidFill>
                  <a:srgbClr val="F2F7FF"/>
                </a:solidFill>
                <a:latin typeface="Arimo"/>
              </a:rPr>
              <a:t>List / Tuple / Set bridge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205740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1490472"/>
            <a:ext cx="324612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F59F00"/>
                </a:solidFill>
                <a:latin typeface="Arimo"/>
              </a:rPr>
              <a:t>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5424" y="1856232"/>
            <a:ext cx="3136392" cy="1527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600" b="0">
                <a:solidFill>
                  <a:srgbClr val="F2F7FF"/>
                </a:solidFill>
                <a:latin typeface="Arimo"/>
              </a:rPr>
              <a:t>choose by problem need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17320"/>
            <a:ext cx="3429000" cy="2057400"/>
          </a:xfrm>
          <a:prstGeom prst="roundRect">
            <a:avLst/>
          </a:prstGeom>
          <a:solidFill>
            <a:srgbClr val="0C2B4F"/>
          </a:solidFill>
          <a:ln>
            <a:solidFill>
              <a:srgbClr val="DD3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490472"/>
            <a:ext cx="324612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DD3479"/>
                </a:solidFill>
                <a:latin typeface="Arimo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4" y="1856232"/>
            <a:ext cx="3136392" cy="1527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500" b="0">
                <a:solidFill>
                  <a:srgbClr val="F2F7FF"/>
                </a:solidFill>
                <a:latin typeface="Arimo"/>
              </a:rPr>
              <a:t>Dictionary waits until M2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069080"/>
            <a:ext cx="5029200" cy="1371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50">
                <a:solidFill>
                  <a:srgbClr val="A8BBD3"/>
                </a:solidFill>
                <a:latin typeface="Arimo"/>
              </a:rPr>
              <a:t>• Grade 8 included List; Tuple/Set are explicitly bridged here</a:t>
            </a:r>
          </a:p>
          <a:p>
            <a:pPr algn="r" rtl="1">
              <a:spcAft>
                <a:spcPts val="400"/>
              </a:spcAft>
            </a:pPr>
            <a:r>
              <a:rPr sz="1350">
                <a:solidFill>
                  <a:srgbClr val="A8BBD3"/>
                </a:solidFill>
                <a:latin typeface="Arimo"/>
              </a:rPr>
              <a:t>• first half completes the 1h List/Tuple/Set bridge</a:t>
            </a:r>
          </a:p>
          <a:p>
            <a:pPr algn="r" rtl="1">
              <a:spcAft>
                <a:spcPts val="400"/>
              </a:spcAft>
            </a:pPr>
            <a:r>
              <a:rPr sz="1350">
                <a:solidFill>
                  <a:srgbClr val="A8BBD3"/>
                </a:solidFill>
                <a:latin typeface="Arimo"/>
              </a:rPr>
              <a:t>• second half begins algorithm practice on simple structures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Hook: אותו מידע - שלושה צרכים שונים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417320"/>
            <a:ext cx="10241280" cy="5943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2300" b="1">
                <a:solidFill>
                  <a:srgbClr val="F2F7FF"/>
                </a:solidFill>
                <a:latin typeface="Arimo"/>
              </a:rPr>
              <a:t>האם אותה “רשימה” מתאימה לכל סוג מידע?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2788920"/>
            <a:ext cx="4389120" cy="1554480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862072"/>
            <a:ext cx="42062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00C1CE"/>
                </a:solidFill>
                <a:latin typeface="Arimo"/>
              </a:rPr>
              <a:t>צריך סדר ושינויים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3" y="3227832"/>
            <a:ext cx="4096511" cy="10241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500" b="0">
                <a:solidFill>
                  <a:srgbClr val="F2F7FF"/>
                </a:solidFill>
                <a:latin typeface="Arimo"/>
              </a:rPr>
              <a:t>רשימת הרשמות שבה אפשר להוסיף ולתקן.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788920"/>
            <a:ext cx="4389120" cy="155448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79" y="2862072"/>
            <a:ext cx="42062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F59F00"/>
                </a:solidFill>
                <a:latin typeface="Arimo"/>
              </a:rPr>
              <a:t>צריך ייחודיות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544" y="3227832"/>
            <a:ext cx="4096511" cy="10241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500" b="0">
                <a:solidFill>
                  <a:srgbClr val="F2F7FF"/>
                </a:solidFill>
                <a:latin typeface="Arimo"/>
              </a:rPr>
              <a:t>קבוצת תגיות שבה כל ערך צריך להופיע פעם אחת בלבד.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983480"/>
            <a:ext cx="996696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50" b="0">
                <a:solidFill>
                  <a:srgbClr val="A8BBD3"/>
                </a:solidFill>
                <a:latin typeface="Arimo"/>
              </a:rPr>
              <a:t>מבנה נתונים הוא החלטת ייצוג, לא רק syntax.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המודל המנטלי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89920" cy="6400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2700" b="1">
                <a:solidFill>
                  <a:srgbClr val="00C1CE"/>
                </a:solidFill>
                <a:latin typeface="Arimo"/>
              </a:rPr>
              <a:t>problem need → representation →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063240"/>
            <a:ext cx="9692640" cy="6400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700" b="0">
                <a:solidFill>
                  <a:srgbClr val="DCE7F4"/>
                </a:solidFill>
                <a:latin typeface="Arimo"/>
              </a:rPr>
              <a:t>שואלים קודם מה המידע צריך לעשות: לשמור סדר? להשתנות? למנוע כפילויות? ורק אז בוחרים מבנה.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שלושת המבנים בתחילת Unit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25952" cy="3566160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90472"/>
            <a:ext cx="3243072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00C1CE"/>
                </a:solidFill>
                <a:latin typeface="Arimo"/>
              </a:rPr>
              <a:t>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" y="1856232"/>
            <a:ext cx="3133344" cy="30358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50" b="0">
                <a:solidFill>
                  <a:srgbClr val="F2F7FF"/>
                </a:solidFill>
                <a:latin typeface="Arimo"/>
              </a:rPr>
              <a:t>מסודרת · ניתנת לשינוי · כפילויות מותרות</a:t>
            </a:r>
            <a:br/>
            <a:r>
              <a:t>גישה לפי index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7784" y="1417320"/>
            <a:ext cx="3425952" cy="356616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9223" y="1490472"/>
            <a:ext cx="3243072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F59F00"/>
                </a:solidFill>
                <a:latin typeface="Arimo"/>
              </a:rPr>
              <a:t>TUPLE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4088" y="1856232"/>
            <a:ext cx="3133344" cy="30358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50" b="0">
                <a:solidFill>
                  <a:srgbClr val="F2F7FF"/>
                </a:solidFill>
                <a:latin typeface="Arimo"/>
              </a:rPr>
              <a:t>מסודר · record קבוע · כפילויות מותרות</a:t>
            </a:r>
            <a:br/>
            <a:r>
              <a:t>גישה לפי index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9767" y="1417320"/>
            <a:ext cx="3425952" cy="3566160"/>
          </a:xfrm>
          <a:prstGeom prst="roundRect">
            <a:avLst/>
          </a:prstGeom>
          <a:solidFill>
            <a:srgbClr val="0C2B4F"/>
          </a:solidFill>
          <a:ln>
            <a:solidFill>
              <a:srgbClr val="DD3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41207" y="1490472"/>
            <a:ext cx="3243072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DD3479"/>
                </a:solidFill>
                <a:latin typeface="Arimo"/>
              </a:rPr>
              <a:t>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6072" y="1856232"/>
            <a:ext cx="3133344" cy="30358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50" b="0">
                <a:solidFill>
                  <a:srgbClr val="F2F7FF"/>
                </a:solidFill>
                <a:latin typeface="Arimo"/>
              </a:rPr>
              <a:t>ערכים ייחודיים · membership מהיר לשימוש</a:t>
            </a:r>
            <a:br/>
            <a:r>
              <a:t>אין index משמעותי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257800"/>
            <a:ext cx="10515600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0">
                <a:solidFill>
                  <a:srgbClr val="A8BBD3"/>
                </a:solidFill>
                <a:latin typeface="Arimo"/>
              </a:rPr>
              <a:t>אל תנבאו את סדר ההדפסה של Set - השתמשו ב-len וב-in כשצריך תוצאה חד-משמעית.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Starter: אל תריצו עדיין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98448"/>
            <a:ext cx="5943600" cy="4389120"/>
          </a:xfrm>
          <a:prstGeom prst="roundRect">
            <a:avLst/>
          </a:prstGeom>
          <a:solidFill>
            <a:srgbClr val="113660"/>
          </a:solidFill>
          <a:ln>
            <a:solidFill>
              <a:srgbClr val="1857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09728" tIns="109728" bIns="73152"/>
          <a:lstStyle/>
          <a:p>
            <a:pPr algn="l"/>
            <a:r>
              <a:rPr sz="1320">
                <a:solidFill>
                  <a:srgbClr val="F2F7FF"/>
                </a:solidFill>
                <a:latin typeface="DejaVu Sans Mono"/>
              </a:rPr>
              <a:t>names = ["Dana", "Ali", "Dana"]</a:t>
            </a:r>
            <a:br/>
            <a:r>
              <a:rPr sz="1320">
                <a:solidFill>
                  <a:srgbClr val="F2F7FF"/>
                </a:solidFill>
                <a:latin typeface="DejaVu Sans Mono"/>
              </a:rPr>
              <a:t>point = (4, 7)</a:t>
            </a:r>
            <a:br/>
            <a:r>
              <a:rPr sz="1320">
                <a:solidFill>
                  <a:srgbClr val="F2F7FF"/>
                </a:solidFill>
                <a:latin typeface="DejaVu Sans Mono"/>
              </a:rPr>
              <a:t>tags = {"python", "ai", "python"}</a:t>
            </a:r>
            <a:br/>
            <a:br/>
            <a:r>
              <a:rPr sz="1320">
                <a:solidFill>
                  <a:srgbClr val="F2F7FF"/>
                </a:solidFill>
                <a:latin typeface="DejaVu Sans Mono"/>
              </a:rPr>
              <a:t>print(len(names))</a:t>
            </a:r>
            <a:br/>
            <a:r>
              <a:rPr sz="1320">
                <a:solidFill>
                  <a:srgbClr val="F2F7FF"/>
                </a:solidFill>
                <a:latin typeface="DejaVu Sans Mono"/>
              </a:rPr>
              <a:t>print(point[1])</a:t>
            </a:r>
            <a:br/>
            <a:r>
              <a:rPr sz="1320">
                <a:solidFill>
                  <a:srgbClr val="F2F7FF"/>
                </a:solidFill>
                <a:latin typeface="DejaVu Sans Mono"/>
              </a:rPr>
              <a:t>print(len(tags))</a:t>
            </a:r>
            <a:br/>
            <a:r>
              <a:rPr sz="1320">
                <a:solidFill>
                  <a:srgbClr val="F2F7FF"/>
                </a:solidFill>
                <a:latin typeface="DejaVu Sans Mono"/>
              </a:rPr>
              <a:t>print("ai" in tags)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95160" y="1554480"/>
            <a:ext cx="4389120" cy="2926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>
                <a:solidFill>
                  <a:srgbClr val="F2F7FF"/>
                </a:solidFill>
                <a:latin typeface="Arimo"/>
              </a:rPr>
              <a:t>• מה יודפס בכל שורה?</a:t>
            </a:r>
          </a:p>
          <a:p>
            <a:pPr algn="r" rtl="1">
              <a:spcAft>
                <a:spcPts val="400"/>
              </a:spcAft>
            </a:pPr>
            <a:r>
              <a:rPr sz="1500">
                <a:solidFill>
                  <a:srgbClr val="F2F7FF"/>
                </a:solidFill>
                <a:latin typeface="Arimo"/>
              </a:rPr>
              <a:t>• איזה מבנה שומר את הכפילויות?</a:t>
            </a:r>
          </a:p>
          <a:p>
            <a:pPr algn="r" rtl="1">
              <a:spcAft>
                <a:spcPts val="400"/>
              </a:spcAft>
            </a:pPr>
            <a:r>
              <a:rPr sz="1500">
                <a:solidFill>
                  <a:srgbClr val="F2F7FF"/>
                </a:solidFill>
                <a:latin typeface="Arimo"/>
              </a:rPr>
              <a:t>• איזה מבנה מסיר כפילויות?</a:t>
            </a:r>
          </a:p>
          <a:p>
            <a:pPr algn="r" rtl="1">
              <a:spcAft>
                <a:spcPts val="400"/>
              </a:spcAft>
            </a:pPr>
            <a:r>
              <a:rPr sz="1500">
                <a:solidFill>
                  <a:srgbClr val="F2F7FF"/>
                </a:solidFill>
                <a:latin typeface="Arimo"/>
              </a:rPr>
              <a:t>• למה לא מבקשים לנבא את סדר ה-Set?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4572000"/>
            <a:ext cx="3840480" cy="841248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4645152"/>
            <a:ext cx="365760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50" b="1">
                <a:solidFill>
                  <a:srgbClr val="00C1CE"/>
                </a:solidFill>
                <a:latin typeface="Arimo"/>
              </a:rPr>
              <a:t>PREDICTION IS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70064" y="5010912"/>
            <a:ext cx="3547872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0">
                <a:solidFill>
                  <a:srgbClr val="F2F7FF"/>
                </a:solidFill>
                <a:latin typeface="Arimo"/>
              </a:rPr>
              <a:t>חיזוי של properties, לא של סדר מקרי.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Misconception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5074920" cy="1508760"/>
          </a:xfrm>
          <a:prstGeom prst="roundRect">
            <a:avLst/>
          </a:prstGeom>
          <a:solidFill>
            <a:srgbClr val="0C2B4F"/>
          </a:solidFill>
          <a:ln>
            <a:solidFill>
              <a:srgbClr val="DD3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0472"/>
            <a:ext cx="48920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DD3479"/>
                </a:solidFill>
                <a:latin typeface="Arimo"/>
              </a:rPr>
              <a:t>Myth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1856232"/>
            <a:ext cx="4782312" cy="978407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Tuple הוא “List עם סוגריים אחרים” ולכן אפשר לעדכן אותו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417320"/>
            <a:ext cx="5074920" cy="150876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90472"/>
            <a:ext cx="48920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F59F00"/>
                </a:solidFill>
                <a:latin typeface="Arimo"/>
              </a:rPr>
              <a:t>Myth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1384" y="1856232"/>
            <a:ext cx="4782312" cy="978407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Set שומר סדר מיקומים ולכן אפשר להשתמש ב-[0]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429000"/>
            <a:ext cx="5074920" cy="1508760"/>
          </a:xfrm>
          <a:prstGeom prst="roundRect">
            <a:avLst/>
          </a:prstGeom>
          <a:solidFill>
            <a:srgbClr val="0C2B4F"/>
          </a:solidFill>
          <a:ln>
            <a:solidFill>
              <a:srgbClr val="DD3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02152"/>
            <a:ext cx="48920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DD3479"/>
                </a:solidFill>
                <a:latin typeface="Arimo"/>
              </a:rPr>
              <a:t>Myth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867912"/>
            <a:ext cx="4782312" cy="978407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List תמיד עדיף כי הוא הכי גמיש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429000"/>
            <a:ext cx="5074920" cy="150876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502152"/>
            <a:ext cx="48920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F59F00"/>
                </a:solidFill>
                <a:latin typeface="Arimo"/>
              </a:rPr>
              <a:t>Myth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3867912"/>
            <a:ext cx="4782312" cy="978407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בחירת מבנה היא החלטת syntax ולא החלטת פתרון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דרך העבודה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86000"/>
            <a:ext cx="1389888" cy="731520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359152"/>
            <a:ext cx="120700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00C1CE"/>
                </a:solidFill>
                <a:latin typeface="Arimo"/>
              </a:rPr>
              <a:t>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2724912"/>
            <a:ext cx="10972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4248" y="2450592"/>
            <a:ext cx="109728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A8BBD3"/>
                </a:solidFill>
                <a:latin typeface="Arimo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93976" y="2286000"/>
            <a:ext cx="1389888" cy="73152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85416" y="2359152"/>
            <a:ext cx="120700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F59F00"/>
                </a:solidFill>
                <a:latin typeface="Arimo"/>
              </a:rPr>
              <a:t>Predict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724912"/>
            <a:ext cx="10972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3864" y="2450592"/>
            <a:ext cx="109728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A8BBD3"/>
                </a:solidFill>
                <a:latin typeface="Arimo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93592" y="2286000"/>
            <a:ext cx="1389888" cy="731520"/>
          </a:xfrm>
          <a:prstGeom prst="roundRect">
            <a:avLst/>
          </a:prstGeom>
          <a:solidFill>
            <a:srgbClr val="0C2B4F"/>
          </a:solidFill>
          <a:ln>
            <a:solidFill>
              <a:srgbClr val="DD3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5032" y="2359152"/>
            <a:ext cx="120700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DD3479"/>
                </a:solidFill>
                <a:latin typeface="Arimo"/>
              </a:rPr>
              <a:t>Compare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9896" y="2724912"/>
            <a:ext cx="10972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80" y="2450592"/>
            <a:ext cx="109728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A8BBD3"/>
                </a:solidFill>
                <a:latin typeface="Arimo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93208" y="2286000"/>
            <a:ext cx="1389888" cy="731520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4648" y="2359152"/>
            <a:ext cx="120700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00C1CE"/>
                </a:solidFill>
                <a:latin typeface="Arimo"/>
              </a:rPr>
              <a:t>Modify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9512" y="2724912"/>
            <a:ext cx="10972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3096" y="2450592"/>
            <a:ext cx="109728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A8BBD3"/>
                </a:solidFill>
                <a:latin typeface="Arimo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92824" y="2286000"/>
            <a:ext cx="1389888" cy="73152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84264" y="2359152"/>
            <a:ext cx="120700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F59F00"/>
                </a:solidFill>
                <a:latin typeface="Arimo"/>
              </a:rPr>
              <a:t>Build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9128" y="2724912"/>
            <a:ext cx="10972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82712" y="2450592"/>
            <a:ext cx="109728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A8BBD3"/>
                </a:solidFill>
                <a:latin typeface="Arimo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2286000"/>
            <a:ext cx="1389888" cy="731520"/>
          </a:xfrm>
          <a:prstGeom prst="roundRect">
            <a:avLst/>
          </a:prstGeom>
          <a:solidFill>
            <a:srgbClr val="0C2B4F"/>
          </a:solidFill>
          <a:ln>
            <a:solidFill>
              <a:srgbClr val="DD3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80" y="2359152"/>
            <a:ext cx="120700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DD3479"/>
                </a:solidFill>
                <a:latin typeface="Arimo"/>
              </a:rPr>
              <a:t>Explain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8744" y="2724912"/>
            <a:ext cx="10972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600" b="0">
                <a:solidFill>
                  <a:srgbClr val="DCE7F4"/>
                </a:solidFill>
                <a:latin typeface="Arimo"/>
              </a:rPr>
              <a:t>בכל שינוי: נבחר ייצוג בגלל צורך, ואז נבדוק אם הפעולות מתאימות לצורך.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Lab Progression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0561320" cy="502920"/>
          </a:xfrm>
          <a:prstGeom prst="roundRect">
            <a:avLst/>
          </a:prstGeom>
          <a:solidFill>
            <a:srgbClr val="0A2748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35607"/>
            <a:ext cx="10515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50" b="1">
                <a:solidFill>
                  <a:srgbClr val="00C1CE"/>
                </a:solidFill>
                <a:latin typeface="Arimo"/>
              </a:rPr>
              <a:t>0-12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399032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1">
                <a:solidFill>
                  <a:srgbClr val="F2F7FF"/>
                </a:solidFill>
                <a:latin typeface="Arimo"/>
              </a:rPr>
              <a:t>List reactivation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399032"/>
            <a:ext cx="6217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080" b="0">
                <a:solidFill>
                  <a:srgbClr val="A8BBD3"/>
                </a:solidFill>
                <a:latin typeface="Arimo"/>
              </a:rPr>
              <a:t>order, duplicates, indexing, append/update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47672"/>
            <a:ext cx="10561320" cy="502920"/>
          </a:xfrm>
          <a:prstGeom prst="roundRect">
            <a:avLst/>
          </a:prstGeom>
          <a:solidFill>
            <a:srgbClr val="0A2748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10515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50" b="1">
                <a:solidFill>
                  <a:srgbClr val="F59F00"/>
                </a:solidFill>
                <a:latin typeface="Arimo"/>
              </a:rPr>
              <a:t>12-27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020824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1">
                <a:solidFill>
                  <a:srgbClr val="F2F7FF"/>
                </a:solidFill>
                <a:latin typeface="Arimo"/>
              </a:rPr>
              <a:t>Tuple 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020824"/>
            <a:ext cx="6217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080" b="0">
                <a:solidFill>
                  <a:srgbClr val="A8BBD3"/>
                </a:solidFill>
                <a:latin typeface="Arimo"/>
              </a:rPr>
              <a:t>fixed record, indexing, immutability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569464"/>
            <a:ext cx="10561320" cy="502920"/>
          </a:xfrm>
          <a:prstGeom prst="roundRect">
            <a:avLst/>
          </a:prstGeom>
          <a:solidFill>
            <a:srgbClr val="0A2748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679192"/>
            <a:ext cx="10515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50" b="1">
                <a:solidFill>
                  <a:srgbClr val="00C1CE"/>
                </a:solidFill>
                <a:latin typeface="Arimo"/>
              </a:rPr>
              <a:t>27-42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2642616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1">
                <a:solidFill>
                  <a:srgbClr val="F2F7FF"/>
                </a:solidFill>
                <a:latin typeface="Arimo"/>
              </a:rPr>
              <a:t>Set bridge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642616"/>
            <a:ext cx="6217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080" b="0">
                <a:solidFill>
                  <a:srgbClr val="A8BBD3"/>
                </a:solidFill>
                <a:latin typeface="Arimo"/>
              </a:rPr>
              <a:t>uniqueness, membership, add/remove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191256"/>
            <a:ext cx="10561320" cy="502920"/>
          </a:xfrm>
          <a:prstGeom prst="roundRect">
            <a:avLst/>
          </a:prstGeom>
          <a:solidFill>
            <a:srgbClr val="0A2748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300984"/>
            <a:ext cx="10515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50" b="1">
                <a:solidFill>
                  <a:srgbClr val="F59F00"/>
                </a:solidFill>
                <a:latin typeface="Arimo"/>
              </a:rPr>
              <a:t>42-52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3264408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1">
                <a:solidFill>
                  <a:srgbClr val="F2F7FF"/>
                </a:solidFill>
                <a:latin typeface="Arimo"/>
              </a:rPr>
              <a:t>Starter prediction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264408"/>
            <a:ext cx="6217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080" b="0">
                <a:solidFill>
                  <a:srgbClr val="A8BBD3"/>
                </a:solidFill>
                <a:latin typeface="Arimo"/>
              </a:rPr>
              <a:t>predict properties before Run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813048"/>
            <a:ext cx="10561320" cy="502920"/>
          </a:xfrm>
          <a:prstGeom prst="roundRect">
            <a:avLst/>
          </a:prstGeom>
          <a:solidFill>
            <a:srgbClr val="0A2748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922776"/>
            <a:ext cx="10515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50" b="1">
                <a:solidFill>
                  <a:srgbClr val="00C1CE"/>
                </a:solidFill>
                <a:latin typeface="Arimo"/>
              </a:rPr>
              <a:t>52-68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3886200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1">
                <a:solidFill>
                  <a:srgbClr val="F2F7FF"/>
                </a:solidFill>
                <a:latin typeface="Arimo"/>
              </a:rPr>
              <a:t>Modify + compare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886200"/>
            <a:ext cx="6217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080" b="0">
                <a:solidFill>
                  <a:srgbClr val="A8BBD3"/>
                </a:solidFill>
                <a:latin typeface="Arimo"/>
              </a:rPr>
              <a:t>same data represented three ways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434840"/>
            <a:ext cx="10561320" cy="502920"/>
          </a:xfrm>
          <a:prstGeom prst="roundRect">
            <a:avLst/>
          </a:prstGeom>
          <a:solidFill>
            <a:srgbClr val="0A2748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544568"/>
            <a:ext cx="10515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50" b="1">
                <a:solidFill>
                  <a:srgbClr val="F59F00"/>
                </a:solidFill>
                <a:latin typeface="Arimo"/>
              </a:rPr>
              <a:t>68-84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507992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1">
                <a:solidFill>
                  <a:srgbClr val="F2F7FF"/>
                </a:solidFill>
                <a:latin typeface="Arimo"/>
              </a:rPr>
              <a:t>Protected Event Sign-up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507992"/>
            <a:ext cx="6217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080" b="0">
                <a:solidFill>
                  <a:srgbClr val="A8BBD3"/>
                </a:solidFill>
                <a:latin typeface="Arimo"/>
              </a:rPr>
              <a:t>use list + set + tuple intentionally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056631"/>
            <a:ext cx="10561320" cy="502920"/>
          </a:xfrm>
          <a:prstGeom prst="roundRect">
            <a:avLst/>
          </a:prstGeom>
          <a:solidFill>
            <a:srgbClr val="0A2748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166359"/>
            <a:ext cx="10515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50" b="1">
                <a:solidFill>
                  <a:srgbClr val="00C1CE"/>
                </a:solidFill>
                <a:latin typeface="Arimo"/>
              </a:rPr>
              <a:t>84-90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129783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1">
                <a:solidFill>
                  <a:srgbClr val="F2F7FF"/>
                </a:solidFill>
                <a:latin typeface="Arimo"/>
              </a:rPr>
              <a:t>Save + exit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5129783"/>
            <a:ext cx="6217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080" b="0">
                <a:solidFill>
                  <a:srgbClr val="A8BBD3"/>
                </a:solidFill>
                <a:latin typeface="Arimo"/>
              </a:rPr>
              <a:t>explain one representation decision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Challenge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4023360" cy="3200400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90472"/>
            <a:ext cx="384048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00C1CE"/>
                </a:solidFill>
                <a:latin typeface="Arimo"/>
              </a:rPr>
              <a:t>CHOOSE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1856232"/>
            <a:ext cx="3730752" cy="2670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500" b="0">
                <a:solidFill>
                  <a:srgbClr val="F2F7FF"/>
                </a:solidFill>
                <a:latin typeface="Arimo"/>
              </a:rPr>
              <a:t>איזה מבנה מתאים ל-GPS point שאמור להישאר זוג קבוע של ערכים?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554480"/>
            <a:ext cx="54864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800" b="1">
                <a:solidFill>
                  <a:srgbClr val="F2F7FF"/>
                </a:solidFill>
                <a:latin typeface="Arimo"/>
              </a:rPr>
              <a:t>בחרו List / Tuple / Set והסבירו במשפט אחד.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2331720"/>
            <a:ext cx="5486400" cy="2377440"/>
          </a:xfrm>
          <a:prstGeom prst="roundRect">
            <a:avLst/>
          </a:prstGeom>
          <a:solidFill>
            <a:srgbClr val="113660"/>
          </a:solidFill>
          <a:ln>
            <a:solidFill>
              <a:srgbClr val="1857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09728" tIns="109728" bIns="73152"/>
          <a:lstStyle/>
          <a:p>
            <a:pPr algn="l"/>
            <a:r>
              <a:rPr sz="1300">
                <a:solidFill>
                  <a:srgbClr val="F2F7FF"/>
                </a:solidFill>
                <a:latin typeface="DejaVu Sans Mono"/>
              </a:rPr>
              <a:t>point = (32.1, 34.8)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4983480"/>
            <a:ext cx="548640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300" b="0">
                <a:solidFill>
                  <a:srgbClr val="A8BBD3"/>
                </a:solidFill>
                <a:latin typeface="Arimo"/>
              </a:rPr>
              <a:t>הצדקה חשובה יותר משינון שמות.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Challenge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4023360" cy="3246120"/>
          </a:xfrm>
          <a:prstGeom prst="roundRect">
            <a:avLst/>
          </a:prstGeom>
          <a:solidFill>
            <a:srgbClr val="0C2B4F"/>
          </a:solidFill>
          <a:ln>
            <a:solidFill>
              <a:srgbClr val="DD3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90472"/>
            <a:ext cx="384048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DD3479"/>
                </a:solidFill>
                <a:latin typeface="Arimo"/>
              </a:rPr>
              <a:t>COMPARE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1856232"/>
            <a:ext cx="3730752" cy="27157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500" b="0">
                <a:solidFill>
                  <a:srgbClr val="F2F7FF"/>
                </a:solidFill>
                <a:latin typeface="Arimo"/>
              </a:rPr>
              <a:t>אותם שמות מופיעים ברשימת הרשמה ובקבוצת נוכחים ייחודיים.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554480"/>
            <a:ext cx="54864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800" b="1">
                <a:solidFill>
                  <a:srgbClr val="F2F7FF"/>
                </a:solidFill>
                <a:latin typeface="Arimo"/>
              </a:rPr>
              <a:t>מה יישמר בכל מבנה?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2331720"/>
            <a:ext cx="5486400" cy="2423160"/>
          </a:xfrm>
          <a:prstGeom prst="roundRect">
            <a:avLst/>
          </a:prstGeom>
          <a:solidFill>
            <a:srgbClr val="113660"/>
          </a:solidFill>
          <a:ln>
            <a:solidFill>
              <a:srgbClr val="1857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09728" tIns="109728" bIns="73152"/>
          <a:lstStyle/>
          <a:p>
            <a:pPr algn="l"/>
            <a:r>
              <a:rPr sz="1250">
                <a:solidFill>
                  <a:srgbClr val="F2F7FF"/>
                </a:solidFill>
                <a:latin typeface="DejaVu Sans Mono"/>
              </a:rPr>
              <a:t>registrations = ["Dana", "Ali", "Dana"]</a:t>
            </a:r>
            <a:br/>
            <a:r>
              <a:rPr sz="1250">
                <a:solidFill>
                  <a:srgbClr val="F2F7FF"/>
                </a:solidFill>
                <a:latin typeface="DejaVu Sans Mono"/>
              </a:rPr>
              <a:t>unique = set(registrations)</a:t>
            </a:r>
            <a:br/>
            <a:br/>
            <a:r>
              <a:rPr sz="1250">
                <a:solidFill>
                  <a:srgbClr val="F2F7FF"/>
                </a:solidFill>
                <a:latin typeface="DejaVu Sans Mono"/>
              </a:rPr>
              <a:t>print(len(registrations))</a:t>
            </a:r>
            <a:br/>
            <a:r>
              <a:rPr sz="1250">
                <a:solidFill>
                  <a:srgbClr val="F2F7FF"/>
                </a:solidFill>
                <a:latin typeface="DejaVu Sans Mono"/>
              </a:rPr>
              <a:t>print(len(unique))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4983480"/>
            <a:ext cx="548640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300" b="0">
                <a:solidFill>
                  <a:srgbClr val="A8BBD3"/>
                </a:solidFill>
                <a:latin typeface="Arimo"/>
              </a:rPr>
              <a:t>הבדל בין “כל האירועים” לבין “מי הופיע לפחות פעם אחת”.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Protected Core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98448"/>
            <a:ext cx="3840480" cy="3931920"/>
          </a:xfrm>
          <a:prstGeom prst="roundRect">
            <a:avLst/>
          </a:prstGeom>
          <a:solidFill>
            <a:srgbClr val="0C2B4F"/>
          </a:solidFill>
          <a:ln>
            <a:solidFill>
              <a:srgbClr val="DD3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365760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DD3479"/>
                </a:solidFill>
                <a:latin typeface="Arimo"/>
              </a:rPr>
              <a:t>PROTECTED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737360"/>
            <a:ext cx="3547872" cy="34015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2200" b="0">
                <a:solidFill>
                  <a:srgbClr val="F2F7FF"/>
                </a:solidFill>
                <a:latin typeface="Arimo"/>
              </a:rPr>
              <a:t>Event Sign-up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1371600"/>
            <a:ext cx="6035040" cy="35661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70">
                <a:solidFill>
                  <a:srgbClr val="F2F7FF"/>
                </a:solidFill>
                <a:latin typeface="Arimo"/>
              </a:rPr>
              <a:t>• צרו List של חמש הרשמות, כולל לפחות כפילות אחת</a:t>
            </a:r>
          </a:p>
          <a:p>
            <a:pPr algn="r" rtl="1">
              <a:spcAft>
                <a:spcPts val="400"/>
              </a:spcAft>
            </a:pPr>
            <a:r>
              <a:rPr sz="1470">
                <a:solidFill>
                  <a:srgbClr val="F2F7FF"/>
                </a:solidFill>
                <a:latin typeface="Arimo"/>
              </a:rPr>
              <a:t>• צרו Set מתוך הרשימות כדי לדעת כמה תלמידים ייחודיים נרשמו</a:t>
            </a:r>
          </a:p>
          <a:p>
            <a:pPr algn="r" rtl="1">
              <a:spcAft>
                <a:spcPts val="400"/>
              </a:spcAft>
            </a:pPr>
            <a:r>
              <a:rPr sz="1470">
                <a:solidFill>
                  <a:srgbClr val="F2F7FF"/>
                </a:solidFill>
                <a:latin typeface="Arimo"/>
              </a:rPr>
              <a:t>• צרו Tuple קבוע עבור (room, day)</a:t>
            </a:r>
          </a:p>
          <a:p>
            <a:pPr algn="r" rtl="1">
              <a:spcAft>
                <a:spcPts val="400"/>
              </a:spcAft>
            </a:pPr>
            <a:r>
              <a:rPr sz="1470">
                <a:solidFill>
                  <a:srgbClr val="F2F7FF"/>
                </a:solidFill>
                <a:latin typeface="Arimo"/>
              </a:rPr>
              <a:t>• הציגו מספר הרשמות, מספר תלמידים ייחודיים, room ו-day</a:t>
            </a:r>
          </a:p>
          <a:p>
            <a:pPr algn="r" rtl="1">
              <a:spcAft>
                <a:spcPts val="400"/>
              </a:spcAft>
            </a:pPr>
            <a:r>
              <a:rPr sz="1470">
                <a:solidFill>
                  <a:srgbClr val="F2F7FF"/>
                </a:solidFill>
                <a:latin typeface="Arimo"/>
              </a:rPr>
              <a:t>• הסבירו למה כל אחד משלושת המבנים מתאים לתפקיד שלו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5074920"/>
            <a:ext cx="594360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250" b="1">
                <a:solidFill>
                  <a:srgbClr val="F59F00"/>
                </a:solidFill>
                <a:latin typeface="Arimo"/>
              </a:rPr>
              <a:t>אין צורך ב-Dictionary עדיין. המטרה היא בחירת ייצוג נכונה.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Evidence of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5074920" cy="1325880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44752"/>
            <a:ext cx="48920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00C1CE"/>
                </a:solidFill>
                <a:latin typeface="Arim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1810512"/>
            <a:ext cx="4782312" cy="7955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Predict len / index / membership before Run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371600"/>
            <a:ext cx="5074920" cy="132588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44752"/>
            <a:ext cx="48920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F59F00"/>
                </a:solidFill>
                <a:latin typeface="Arim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1384" y="1810512"/>
            <a:ext cx="4782312" cy="7955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Use List, Tuple and Set without illegal operations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063240"/>
            <a:ext cx="5074920" cy="1325880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36392"/>
            <a:ext cx="48920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00C1CE"/>
                </a:solidFill>
                <a:latin typeface="Arimo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502152"/>
            <a:ext cx="4782312" cy="7955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Create a derived unique set from registrations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063240"/>
            <a:ext cx="5074920" cy="132588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136392"/>
            <a:ext cx="48920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F59F00"/>
                </a:solidFill>
                <a:latin typeface="Arimo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3502152"/>
            <a:ext cx="4782312" cy="7955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Explain why each representation matches the 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83480"/>
            <a:ext cx="1033272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0">
                <a:solidFill>
                  <a:srgbClr val="A8BBD3"/>
                </a:solidFill>
                <a:latin typeface="Arimo"/>
              </a:rPr>
              <a:t>M1 הוא bridge אמיתי ל-Tuple/Set, לא “חזרה” מדומה על חומר שלא נלמד ב-Part B.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בדיקת סיום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4754880" cy="3246120"/>
          </a:xfrm>
          <a:prstGeom prst="roundRect">
            <a:avLst/>
          </a:prstGeom>
          <a:solidFill>
            <a:srgbClr val="113660"/>
          </a:solidFill>
          <a:ln>
            <a:solidFill>
              <a:srgbClr val="1857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09728" tIns="109728" bIns="73152"/>
          <a:lstStyle/>
          <a:p>
            <a:pPr algn="l"/>
            <a:r>
              <a:rPr sz="1400">
                <a:solidFill>
                  <a:srgbClr val="F2F7FF"/>
                </a:solidFill>
                <a:latin typeface="DejaVu Sans Mono"/>
              </a:rPr>
              <a:t>tags = {"ai", "python", "ai"}</a:t>
            </a:r>
            <a:br/>
            <a:r>
              <a:rPr sz="1400">
                <a:solidFill>
                  <a:srgbClr val="F2F7FF"/>
                </a:solidFill>
                <a:latin typeface="DejaVu Sans Mono"/>
              </a:rPr>
              <a:t>print(len(tags))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417320"/>
            <a:ext cx="484632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800" b="1">
                <a:solidFill>
                  <a:srgbClr val="F2F7FF"/>
                </a:solidFill>
                <a:latin typeface="Arimo"/>
              </a:rPr>
              <a:t>מה יודפס?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331720"/>
            <a:ext cx="4526280" cy="658368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2404872"/>
            <a:ext cx="434340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00C1CE"/>
                </a:solidFill>
                <a:latin typeface="Arimo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8504" y="2770632"/>
            <a:ext cx="4233672" cy="12801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172968"/>
            <a:ext cx="4526280" cy="658368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3246120"/>
            <a:ext cx="434340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F59F00"/>
                </a:solidFill>
                <a:latin typeface="Arimo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8504" y="3611879"/>
            <a:ext cx="4233672" cy="12801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4014215"/>
            <a:ext cx="4526280" cy="658368"/>
          </a:xfrm>
          <a:prstGeom prst="roundRect">
            <a:avLst/>
          </a:prstGeom>
          <a:solidFill>
            <a:srgbClr val="0C2B4F"/>
          </a:solidFill>
          <a:ln>
            <a:solidFill>
              <a:srgbClr val="DD3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4087368"/>
            <a:ext cx="434340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DD3479"/>
                </a:solidFill>
                <a:latin typeface="Arimo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4" y="4453127"/>
            <a:ext cx="4233672" cy="12801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5230368"/>
            <a:ext cx="4526280" cy="365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50" b="0">
                <a:solidFill>
                  <a:srgbClr val="A8BBD3"/>
                </a:solidFill>
                <a:latin typeface="Arimo"/>
              </a:rPr>
              <a:t>אל תריצו לפני שבחרתם תשובה.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מסיימים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5486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2400" b="1">
                <a:solidFill>
                  <a:srgbClr val="00C1CE"/>
                </a:solidFill>
                <a:latin typeface="Arimo"/>
              </a:rPr>
              <a:t>need → choose structure → use valid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20116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600">
                <a:solidFill>
                  <a:srgbClr val="F2F7FF"/>
                </a:solidFill>
                <a:latin typeface="Arimo"/>
              </a:rPr>
              <a:t>• List: ordered and mutable</a:t>
            </a:r>
          </a:p>
          <a:p>
            <a:pPr algn="r" rtl="1">
              <a:spcAft>
                <a:spcPts val="400"/>
              </a:spcAft>
            </a:pPr>
            <a:r>
              <a:rPr sz="1600">
                <a:solidFill>
                  <a:srgbClr val="F2F7FF"/>
                </a:solidFill>
                <a:latin typeface="Arimo"/>
              </a:rPr>
              <a:t>• Tuple: ordered fixed record</a:t>
            </a:r>
          </a:p>
          <a:p>
            <a:pPr algn="r" rtl="1">
              <a:spcAft>
                <a:spcPts val="400"/>
              </a:spcAft>
            </a:pPr>
            <a:r>
              <a:rPr sz="1600">
                <a:solidFill>
                  <a:srgbClr val="F2F7FF"/>
                </a:solidFill>
                <a:latin typeface="Arimo"/>
              </a:rPr>
              <a:t>• Set: unique membership-oriented collection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66360"/>
            <a:ext cx="1033272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50" b="1">
                <a:solidFill>
                  <a:srgbClr val="F59F00"/>
                </a:solidFill>
                <a:latin typeface="Arimo"/>
              </a:rPr>
              <a:t>ב-M2 מתחילים לסרוק collections ולבנות Dictionary.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