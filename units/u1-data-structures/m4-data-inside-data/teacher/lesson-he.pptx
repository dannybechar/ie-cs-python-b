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00" b="1">
                <a:solidFill>
                  <a:srgbClr val="00C1CE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F2F7FF"/>
                </a:solidFill>
                <a:latin typeface="Arimo"/>
              </a:rPr>
              <a:t>Data Inside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87168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300" b="0">
                <a:solidFill>
                  <a:srgbClr val="DCE7F4"/>
                </a:solidFill>
                <a:latin typeface="Arimo"/>
              </a:rPr>
              <a:t>מבני נתונים מורכבים - records בתוך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966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1">
                <a:solidFill>
                  <a:srgbClr val="F59F00"/>
                </a:solidFill>
                <a:latin typeface="Arimo"/>
              </a:rPr>
              <a:t>Read → Map Indices → Predict → Run → Modify → Build → 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92040"/>
            <a:ext cx="101498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50" b="0">
                <a:solidFill>
                  <a:srgbClr val="A8BBD3"/>
                </a:solidFill>
                <a:latin typeface="Arimo"/>
              </a:rPr>
              <a:t>list of lists · list of tuples · nested access · record representation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מה נמצא בתוך השיעור?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F2F7FF"/>
                </a:solidFill>
                <a:latin typeface="Arimo"/>
              </a:rPr>
              <a:t>complex structures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F2F7FF"/>
                </a:solidFill>
                <a:latin typeface="Arimo"/>
              </a:rPr>
              <a:t>outer collection + inner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no classes yet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5029200" cy="1371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this meeting contains the second and final 1h theory block of Unit 1</a:t>
            </a:r>
          </a:p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begins the official 2h practical work on complex structures</a:t>
            </a:r>
          </a:p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use only list of lists / list of tuples as the main Core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Hook: שתי רשימות מקבילות נשברות בקלות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024128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300" b="1">
                <a:solidFill>
                  <a:srgbClr val="F2F7FF"/>
                </a:solidFill>
                <a:latin typeface="Arimo"/>
              </a:rPr>
              <a:t>איך שומרים name + score יחד כך שהקשר ביניהם לא יאבד?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88920"/>
            <a:ext cx="4389120" cy="15544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862072"/>
            <a:ext cx="42062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PARALLEL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3" y="3227832"/>
            <a:ext cx="4096511" cy="10241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names[2] חייב להתאים תמיד ל-scores[2].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788920"/>
            <a:ext cx="4389120" cy="15544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862072"/>
            <a:ext cx="42062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3227832"/>
            <a:ext cx="4096511" cy="10241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כל record מחזיק את הנתונים ששייכים יחד.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83480"/>
            <a:ext cx="996696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A8BBD3"/>
                </a:solidFill>
                <a:latin typeface="Arimo"/>
              </a:rPr>
              <a:t>מבנה מורכב מארגן קשר בין ערכים, לא רק יותר ערכים.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המודל המנטלי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700" b="1">
                <a:solidFill>
                  <a:srgbClr val="00C1CE"/>
                </a:solidFill>
                <a:latin typeface="Arimo"/>
              </a:rPr>
              <a:t>outer collection → record →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063240"/>
            <a:ext cx="969264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0">
                <a:solidFill>
                  <a:srgbClr val="DCE7F4"/>
                </a:solidFill>
                <a:latin typeface="Arimo"/>
              </a:rPr>
              <a:t>Index ראשון בוחר record. Index שני בוחר field בתוך אותו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שתי צורות Core למבנה מורכב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66944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5084064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LIST OF 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1856232"/>
            <a:ext cx="4974336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students = [["Dana",82],["Ali",91]]</a:t>
            </a:r>
            <a:br/>
            <a:r>
              <a:t>inner record can be 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1417320"/>
            <a:ext cx="5266944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216" y="1490472"/>
            <a:ext cx="5084064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LIST OF TUPLES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56232"/>
            <a:ext cx="4974336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students = [("Dana",82),("Ali",91)]</a:t>
            </a:r>
            <a:br/>
            <a:r>
              <a:t>record itself stays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0">
                <a:solidFill>
                  <a:srgbClr val="A8BBD3"/>
                </a:solidFill>
                <a:latin typeface="Arimo"/>
              </a:rPr>
              <a:t>Outer List מאפשר להוסיף/להסיר records גם כאשר כל record הוא Tuple.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Starter: אל תריצו עדיין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5943600" cy="438912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320">
                <a:solidFill>
                  <a:srgbClr val="F2F7FF"/>
                </a:solidFill>
                <a:latin typeface="DejaVu Sans Mono"/>
              </a:rPr>
              <a:t>students = [["Dana", 82], ["Ali", 91], ["Maya", 76]]</a:t>
            </a:r>
            <a:br/>
            <a:r>
              <a:rPr sz="1320">
                <a:solidFill>
                  <a:srgbClr val="F2F7FF"/>
                </a:solidFill>
                <a:latin typeface="DejaVu Sans Mono"/>
              </a:rPr>
              <a:t>fixed_records = [("Dana", 82), ("Ali", 91), ("Maya", 76)]</a:t>
            </a:r>
            <a:br/>
            <a:br/>
            <a:r>
              <a:rPr sz="1320">
                <a:solidFill>
                  <a:srgbClr val="F2F7FF"/>
                </a:solidFill>
                <a:latin typeface="DejaVu Sans Mono"/>
              </a:rPr>
              <a:t>print(students[1][0])</a:t>
            </a:r>
            <a:br/>
            <a:r>
              <a:rPr sz="1320">
                <a:solidFill>
                  <a:srgbClr val="F2F7FF"/>
                </a:solidFill>
                <a:latin typeface="DejaVu Sans Mono"/>
              </a:rPr>
              <a:t>print(students[2][1])</a:t>
            </a:r>
            <a:br/>
            <a:r>
              <a:rPr sz="1320">
                <a:solidFill>
                  <a:srgbClr val="F2F7FF"/>
                </a:solidFill>
                <a:latin typeface="DejaVu Sans Mono"/>
              </a:rPr>
              <a:t>print(fixed_records[0][1])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554480"/>
            <a:ext cx="4389120" cy="2926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איזה index בוחר record?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איזה index בוחר field?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מה יודפס בכל שורה?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מה ההבדל בין inner List ל-inner Tuple?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572000"/>
            <a:ext cx="3840480" cy="841248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4645152"/>
            <a:ext cx="36576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50" b="1">
                <a:solidFill>
                  <a:srgbClr val="00C1CE"/>
                </a:solidFill>
                <a:latin typeface="Arimo"/>
              </a:rPr>
              <a:t>PREDICTION IS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0064" y="5010912"/>
            <a:ext cx="3547872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0">
                <a:solidFill>
                  <a:srgbClr val="F2F7FF"/>
                </a:solidFill>
                <a:latin typeface="Arimo"/>
              </a:rPr>
              <a:t>Say the two indices aloud: record first, field second.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Misconception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Myth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85623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students[1][0] הוא “index 10”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9047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Myth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185623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כל bracket pair ניגש לאותו collection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2900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021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Myth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86791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Tuple פנימי מונע הוספת record חדש ל-outer 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42900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021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Myth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86791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מבנה מורכב הוא תמיד Dictionary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דרך העבודה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4248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F59F00"/>
                </a:solidFill>
                <a:latin typeface="Arimo"/>
              </a:rPr>
              <a:t>Map Indices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DD3479"/>
                </a:solidFill>
                <a:latin typeface="Arimo"/>
              </a:rPr>
              <a:t>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3208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92824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F59F00"/>
                </a:solidFill>
                <a:latin typeface="Arimo"/>
              </a:rPr>
              <a:t>Modify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82712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DD3479"/>
                </a:solidFill>
                <a:latin typeface="Arimo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82328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92056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83496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DCE7F4"/>
                </a:solidFill>
                <a:latin typeface="Arimo"/>
              </a:rPr>
              <a:t>לפני Run: סמנו בעיפרון את ה-record שנבחר, ואז את ה-field שבתוכו.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Lab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35607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0-10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399032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Parallel-list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99032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why related values can drift apart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47672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10-23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020824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Outer + inner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20824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record and field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69464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79192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23-35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642616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List of lists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42616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nested indexing +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91256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00984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35-45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264408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List of tuples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64408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fixed record + mutable outer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13048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22776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45-55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88620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Starter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886200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map indices before 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34840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544568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55-68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507992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Modify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507992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append / replace / 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056631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166359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68-84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129783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Protected Tournament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129783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build list of tuple records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678423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788151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84-90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751575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Save + exit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751575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nested-index reasoning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Challenge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023360" cy="320040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8404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INDEX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856232"/>
            <a:ext cx="3730752" cy="2670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קודם record, אחר כך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54864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מה הערך של records[1][0]?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331720"/>
            <a:ext cx="5486400" cy="237744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300">
                <a:solidFill>
                  <a:srgbClr val="F2F7FF"/>
                </a:solidFill>
                <a:latin typeface="DejaVu Sans Mono"/>
              </a:rPr>
              <a:t>records = [("Dana", 3), ("Ali", 5), ("Maya", 4)]</a:t>
            </a:r>
            <a:br/>
            <a:r>
              <a:rPr sz="1300">
                <a:solidFill>
                  <a:srgbClr val="F2F7FF"/>
                </a:solidFill>
                <a:latin typeface="DejaVu Sans Mono"/>
              </a:rPr>
              <a:t>print(records[1][0])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983480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300" b="0">
                <a:solidFill>
                  <a:srgbClr val="A8BBD3"/>
                </a:solidFill>
                <a:latin typeface="Arimo"/>
              </a:rPr>
              <a:t>[1] בוחר את record של Ali; [0] בוחר את name.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Challenge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023360" cy="32461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8404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MUTABILITY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856232"/>
            <a:ext cx="3730752" cy="27157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Outer List יכול להשתנות גם אם inner records הם tuples.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54864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איזו שורה חוקית?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331720"/>
            <a:ext cx="5486400" cy="242316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250">
                <a:solidFill>
                  <a:srgbClr val="F2F7FF"/>
                </a:solidFill>
                <a:latin typeface="DejaVu Sans Mono"/>
              </a:rPr>
              <a:t>records.append(("Omar", 2))</a:t>
            </a:r>
            <a:br/>
            <a:r>
              <a:rPr sz="1250">
                <a:solidFill>
                  <a:srgbClr val="F2F7FF"/>
                </a:solidFill>
                <a:latin typeface="DejaVu Sans Mono"/>
              </a:rPr>
              <a:t># records[0][1] =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983480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300" b="0">
                <a:solidFill>
                  <a:srgbClr val="A8BBD3"/>
                </a:solidFill>
                <a:latin typeface="Arimo"/>
              </a:rPr>
              <a:t>להחליף field בתוך tuple - לא. להוסיף tuple חדש ל-list - כן.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Protected Core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98448"/>
            <a:ext cx="3840480" cy="39319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6576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PROTECTED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37360"/>
            <a:ext cx="3547872" cy="34015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200" b="0">
                <a:solidFill>
                  <a:srgbClr val="F2F7FF"/>
                </a:solidFill>
                <a:latin typeface="Arimo"/>
              </a:rPr>
              <a:t>Tournament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371600"/>
            <a:ext cx="6035040" cy="35661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צרו List של לפחות 4 Tuple records מסוג (name, score)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הדפיסו record ו-field בעזרת nested index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הוסיפו record חדש באמצעות append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עדכנו score על ידי החלפת tuple שלם במקום המתאים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עברו על records והדפיסו name + score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הסבירו למה inner Tuple מתאים ל-record קבוע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5074920"/>
            <a:ext cx="5943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250" b="1">
                <a:solidFill>
                  <a:srgbClr val="F59F00"/>
                </a:solidFill>
                <a:latin typeface="Arimo"/>
              </a:rPr>
              <a:t>אין Classes עדיין. record מורכב מ-built-in structures בלבד.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Evidence of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81051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Map two-stage nested indexing correctly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7160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447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181051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Distinguish outer mutability from inner tuple immutability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6324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3639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50215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Add and replace records safely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06324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3639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50215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Explain why a list of tuples represents 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0">
                <a:solidFill>
                  <a:srgbClr val="A8BBD3"/>
                </a:solidFill>
                <a:latin typeface="Arimo"/>
              </a:rPr>
              <a:t>M4 הוא ה-Knowledge + Lab השני של Unit 1; מכאן נשארים Lab + Lab עד checkpoint.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בדיקת סיום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754880" cy="324612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400">
                <a:solidFill>
                  <a:srgbClr val="F2F7FF"/>
                </a:solidFill>
                <a:latin typeface="DejaVu Sans Mono"/>
              </a:rPr>
              <a:t>records = [("Dana", 3), ("Ali", 5), ("Maya", 4)]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print(records[1][0])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417320"/>
            <a:ext cx="48463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מה יודפס?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331720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2404872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770632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Ali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72968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246120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3611879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14215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087368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4453127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Dana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5230368"/>
            <a:ext cx="452628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0">
                <a:solidFill>
                  <a:srgbClr val="A8BBD3"/>
                </a:solidFill>
                <a:latin typeface="Arimo"/>
              </a:rPr>
              <a:t>אל תריצו לפני שבחרתם תשובה.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מסיימים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400" b="1">
                <a:solidFill>
                  <a:srgbClr val="00C1CE"/>
                </a:solidFill>
                <a:latin typeface="Arimo"/>
              </a:rPr>
              <a:t>collection → record →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2011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outer index chooses a record</a:t>
            </a:r>
          </a:p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inner index chooses a field</a:t>
            </a:r>
          </a:p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list of tuples = mutable collection of fixed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50" b="1">
                <a:solidFill>
                  <a:srgbClr val="F59F00"/>
                </a:solidFill>
                <a:latin typeface="Arimo"/>
              </a:rPr>
              <a:t>M5 סורק records ומפעיל עליהם count/sum/max/search.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