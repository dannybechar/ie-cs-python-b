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84048"/>
            <a:ext cx="10789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00" b="1">
                <a:solidFill>
                  <a:srgbClr val="00C1CE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3000" b="1">
                <a:solidFill>
                  <a:srgbClr val="F2F7FF"/>
                </a:solidFill>
                <a:latin typeface="Arimo"/>
              </a:rPr>
              <a:t>Scan Nested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87168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0">
                <a:solidFill>
                  <a:srgbClr val="DCE7F4"/>
                </a:solidFill>
                <a:latin typeface="Arimo"/>
              </a:rPr>
              <a:t>אלגוריתמים על records ומבנים מורכבים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86200"/>
            <a:ext cx="9966960" cy="3200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1">
                <a:solidFill>
                  <a:srgbClr val="F59F00"/>
                </a:solidFill>
                <a:latin typeface="Arimo"/>
              </a:rPr>
              <a:t>Read → Trace → Predict → Modify → Build → Test → Explain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892040"/>
            <a:ext cx="101498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50" b="0">
                <a:solidFill>
                  <a:srgbClr val="A8BBD3"/>
                </a:solidFill>
                <a:latin typeface="Arimo"/>
              </a:rPr>
              <a:t>nested traversal · count/sum/max · derive a new structure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מה נמצא בתוך השיעור?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complex-structure practice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59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FOCUS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54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F2F7FF"/>
                </a:solidFill>
                <a:latin typeface="Arimo"/>
              </a:rPr>
              <a:t>scan records with state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417320"/>
            <a:ext cx="3429000" cy="205740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490472"/>
            <a:ext cx="324612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BOUNDARY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93024" y="1856232"/>
            <a:ext cx="3136392" cy="1527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checkpoint remains M6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4069080"/>
            <a:ext cx="5029200" cy="137160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first 45 min completes the 2 practical hours of the complex-structure block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second 45 min begins the final 3h algorithm-on-complex-data block</a:t>
            </a:r>
          </a:p>
          <a:p>
            <a:pPr algn="r" rtl="1">
              <a:spcAft>
                <a:spcPts val="400"/>
              </a:spcAft>
            </a:pPr>
            <a:r>
              <a:rPr sz="1350">
                <a:solidFill>
                  <a:srgbClr val="A8BBD3"/>
                </a:solidFill>
                <a:latin typeface="Arimo"/>
              </a:rPr>
              <a:t>• manual loops remain visible for tracing and explanation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Hook: record הוא לא התשובה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417320"/>
            <a:ext cx="10241280" cy="5943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300" b="1">
                <a:solidFill>
                  <a:srgbClr val="F2F7FF"/>
                </a:solidFill>
                <a:latin typeface="Arimo"/>
              </a:rPr>
              <a:t>אחרי שייצגנו data טוב - איך מוצאים ממנו מידע חדש?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SCAN RECORDS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26463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כל iteration בוחר record ואז field.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2788920"/>
            <a:ext cx="4389120" cy="15544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79" y="2862072"/>
            <a:ext cx="42062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DERIVE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38544" y="3227832"/>
            <a:ext cx="4096511" cy="10241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אפשר לבנות collection חדש כתוצאה מה-scan.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983480"/>
            <a:ext cx="996696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A8BBD3"/>
                </a:solidFill>
                <a:latin typeface="Arimo"/>
              </a:rPr>
              <a:t>representation טוב מאפשר algorithm ברור יותר.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המודל המנטלי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65960"/>
            <a:ext cx="1078992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700" b="1">
                <a:solidFill>
                  <a:srgbClr val="00C1CE"/>
                </a:solidFill>
                <a:latin typeface="Arimo"/>
              </a:rPr>
              <a:t>records → inspect fields → update state → derived result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3063240"/>
            <a:ext cx="9692640" cy="6400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700" b="0">
                <a:solidFill>
                  <a:srgbClr val="DCE7F4"/>
                </a:solidFill>
                <a:latin typeface="Arimo"/>
              </a:rPr>
              <a:t>אותן תבניות count/sum/max חוזרות, אבל הפעם הערך שאנו בודקים נמצא בתוך record.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Pattern transfer: simple → complex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COUNT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104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if record[1] &gt;= 80:</a:t>
            </a:r>
            <a:br/>
            <a:r>
              <a:t>    count += 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38728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F59F00"/>
                </a:solidFill>
                <a:latin typeface="Arimo"/>
              </a:rPr>
              <a:t>SUM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93592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total += record[1]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08776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0216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MAX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compare record[1]</a:t>
            </a:r>
            <a:br/>
            <a:r>
              <a:t>remember name + score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970264" y="1417320"/>
            <a:ext cx="2505456" cy="3566160"/>
          </a:xfrm>
          <a:prstGeom prst="roundRect">
            <a:avLst/>
          </a:prstGeom>
          <a:solidFill>
            <a:srgbClr val="0C2B4F"/>
          </a:solidFill>
          <a:ln>
            <a:solidFill>
              <a:srgbClr val="75B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61704" y="1490472"/>
            <a:ext cx="2322576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75B4FF"/>
                </a:solidFill>
                <a:latin typeface="Arimo"/>
              </a:rPr>
              <a:t>DERIVE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16568" y="1856232"/>
            <a:ext cx="2212848" cy="303580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50" b="0">
                <a:solidFill>
                  <a:srgbClr val="F2F7FF"/>
                </a:solidFill>
                <a:latin typeface="Arimo"/>
              </a:rPr>
              <a:t>selected.append(record[0])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257800"/>
            <a:ext cx="10515600" cy="34747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כאשר max מתעדכן, לעיתים צריך לשמור יותר מ-value אחד: גם name וגם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Starter: אל תריצו עדיין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98448"/>
            <a:ext cx="5943600" cy="4389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070">
                <a:solidFill>
                  <a:srgbClr val="F2F7FF"/>
                </a:solidFill>
                <a:latin typeface="DejaVu Sans Mono"/>
              </a:rPr>
              <a:t>records = [("Dana", 82), ("Ali", 91), ("Maya", 76), ("Omar", 88)]</a:t>
            </a:r>
            <a:br/>
            <a:br/>
            <a:r>
              <a:rPr sz="1070">
                <a:solidFill>
                  <a:srgbClr val="F2F7FF"/>
                </a:solidFill>
                <a:latin typeface="DejaVu Sans Mono"/>
              </a:rPr>
              <a:t>total = 0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count_high = 0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top_name = records[0][0]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top_score = records[0][1]</a:t>
            </a:r>
            <a:br/>
            <a:br/>
            <a:r>
              <a:rPr sz="1070">
                <a:solidFill>
                  <a:srgbClr val="F2F7FF"/>
                </a:solidFill>
                <a:latin typeface="DejaVu Sans Mono"/>
              </a:rPr>
              <a:t>for record in records: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score = record[1]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total += score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if score &gt;= 80: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    count_high += 1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if score &gt; top_score: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    top_name = record[0]</a:t>
            </a:r>
            <a:br/>
            <a:r>
              <a:rPr sz="1070">
                <a:solidFill>
                  <a:srgbClr val="F2F7FF"/>
                </a:solidFill>
                <a:latin typeface="DejaVu Sans Mono"/>
              </a:rPr>
              <a:t>        top_score = score</a:t>
            </a:r>
            <a:br/>
            <a:br/>
            <a:r>
              <a:rPr sz="1070">
                <a:solidFill>
                  <a:srgbClr val="F2F7FF"/>
                </a:solidFill>
                <a:latin typeface="DejaVu Sans Mono"/>
              </a:rPr>
              <a:t>print(total, count_high, top_name, top_score)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95160" y="1554480"/>
            <a:ext cx="4389120" cy="29260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עקבו אחרי total ו-count_high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מתי top_name משתנה?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למה צריך לשמור גם name וגם score?</a:t>
            </a:r>
          </a:p>
          <a:p>
            <a:pPr algn="r" rtl="1">
              <a:spcAft>
                <a:spcPts val="400"/>
              </a:spcAft>
            </a:pPr>
            <a:r>
              <a:rPr sz="1500">
                <a:solidFill>
                  <a:srgbClr val="F2F7FF"/>
                </a:solidFill>
                <a:latin typeface="Arimo"/>
              </a:rPr>
              <a:t>• איזה field משמש להשוואה?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4572000"/>
            <a:ext cx="3840480" cy="84124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4645152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50" b="1">
                <a:solidFill>
                  <a:srgbClr val="00C1CE"/>
                </a:solidFill>
                <a:latin typeface="Arimo"/>
              </a:rPr>
              <a:t>PREDICTION IS EVIDENCE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70064" y="5010912"/>
            <a:ext cx="3547872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0">
                <a:solidFill>
                  <a:srgbClr val="F2F7FF"/>
                </a:solidFill>
                <a:latin typeface="Arimo"/>
              </a:rPr>
              <a:t>Trace record → field → state.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Misconception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7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nested loop תמיד נדרש כדי לעבור על list of tuples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41732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9047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5623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אפשר להשוות record שלם כאשר רוצים max לפי score בלי לחשוב על field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Myth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כש-top_score משתנה אין צורך לעדכן top_name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429000"/>
            <a:ext cx="5074920" cy="150876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5021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Myth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867912"/>
            <a:ext cx="4782312" cy="978407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מבנה נגזר חייב להיות מאותו סוג כמו המקור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דרך העבודה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Read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8424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09397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18541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Trace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4028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83864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93592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85032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Predict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9896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83480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93208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84648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Modify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39512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83096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92824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84264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F59F00"/>
                </a:solidFill>
                <a:latin typeface="Arimo"/>
              </a:rPr>
              <a:t>Build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739128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83880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DD3479"/>
                </a:solidFill>
                <a:latin typeface="Arimo"/>
              </a:rPr>
              <a:t>Test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38744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82328" y="2450592"/>
            <a:ext cx="109728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1">
                <a:solidFill>
                  <a:srgbClr val="A8BBD3"/>
                </a:solidFill>
                <a:latin typeface="Arimo"/>
              </a:rP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592056" y="2286000"/>
            <a:ext cx="1389888" cy="73152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83496" y="2359152"/>
            <a:ext cx="1207008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000" b="1">
                <a:solidFill>
                  <a:srgbClr val="00C1CE"/>
                </a:solidFill>
                <a:latin typeface="Arimo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38360" y="2724912"/>
            <a:ext cx="109728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31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600" b="0">
                <a:solidFill>
                  <a:srgbClr val="DCE7F4"/>
                </a:solidFill>
                <a:latin typeface="Arimo"/>
              </a:rPr>
              <a:t>בכל iteration כתבו: record הנוכחי → field שנבדק → state שהשתנה.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Lab Progression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32588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1435607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0-14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57400" y="139903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Trace starter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39903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total/count/top state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1947672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057400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14-28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020824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Record updates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2020824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append/replace + re-run trace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2569464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2679192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28-43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2642616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Derived collection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46320" y="2642616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build selected names list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191256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" y="3300984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43-45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3264408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Buffer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46320" y="3264408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reset before algorithm block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3813048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60120" y="3922776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45-58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57400" y="3886200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Search in records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3886200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find by name/score condition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" y="4434840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0120" y="4544568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58-72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57400" y="4507992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Stats challenge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46320" y="4507992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count + sum + max together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" y="5056631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60120" y="5166359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00C1CE"/>
                </a:solidFill>
                <a:latin typeface="Arimo"/>
              </a:rPr>
              <a:t>72-85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57400" y="5129783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Protected Class Stats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46320" y="5129783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derive selected names + top student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" y="5678423"/>
            <a:ext cx="10561320" cy="502920"/>
          </a:xfrm>
          <a:prstGeom prst="roundRect">
            <a:avLst/>
          </a:prstGeom>
          <a:solidFill>
            <a:srgbClr val="0A2748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0120" y="5788151"/>
            <a:ext cx="1051560" cy="2011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050" b="1">
                <a:solidFill>
                  <a:srgbClr val="F59F00"/>
                </a:solidFill>
                <a:latin typeface="Arimo"/>
              </a:rPr>
              <a:t>85-90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57400" y="5751575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1150" b="1">
                <a:solidFill>
                  <a:srgbClr val="F2F7FF"/>
                </a:solidFill>
                <a:latin typeface="Arimo"/>
              </a:rPr>
              <a:t>Save + exit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46320" y="5751575"/>
            <a:ext cx="6217920" cy="2743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080" b="0">
                <a:solidFill>
                  <a:srgbClr val="A8BBD3"/>
                </a:solidFill>
                <a:latin typeface="Arimo"/>
              </a:rPr>
              <a:t>trace final counter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0040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00C1CE"/>
                </a:solidFill>
                <a:latin typeface="Arimo"/>
              </a:rPr>
              <a:t>MAX RECORD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67004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כשמוצאים score גדול יותר צריך לשמור את כל המידע הדרוש לתוצאה.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איזה שני variables מתעדכנים יחד?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37744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300">
                <a:solidFill>
                  <a:srgbClr val="F2F7FF"/>
                </a:solidFill>
                <a:latin typeface="DejaVu Sans Mono"/>
              </a:rPr>
              <a:t>if score &gt; top_score: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    top_name = record[0]</a:t>
            </a:r>
            <a:br/>
            <a:r>
              <a:rPr sz="1300">
                <a:solidFill>
                  <a:srgbClr val="F2F7FF"/>
                </a:solidFill>
                <a:latin typeface="DejaVu Sans Mono"/>
              </a:rPr>
              <a:t>    top_score =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name ו-score מתארים את אותו “best record”.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Challenge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023360" cy="32461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90472"/>
            <a:ext cx="384048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DERIVE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9264" y="1856232"/>
            <a:ext cx="3730752" cy="27157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500" b="0">
                <a:solidFill>
                  <a:srgbClr val="F2F7FF"/>
                </a:solidFill>
                <a:latin typeface="Arimo"/>
              </a:rPr>
              <a:t>מייצרים structure חדש כנגזרת מהקיים.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12080" y="1554480"/>
            <a:ext cx="548640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מי ייכנס ל-selected?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2331720"/>
            <a:ext cx="5486400" cy="242316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250">
                <a:solidFill>
                  <a:srgbClr val="F2F7FF"/>
                </a:solidFill>
                <a:latin typeface="DejaVu Sans Mono"/>
              </a:rPr>
              <a:t>selected = []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for record in records: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    if record[1] &gt;= 85:</a:t>
            </a:r>
            <a:br/>
            <a:r>
              <a:rPr sz="1250">
                <a:solidFill>
                  <a:srgbClr val="F2F7FF"/>
                </a:solidFill>
                <a:latin typeface="DejaVu Sans Mono"/>
              </a:rPr>
              <a:t>        selected.append(record[0])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4983480"/>
            <a:ext cx="5486400" cy="45720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300" b="0">
                <a:solidFill>
                  <a:srgbClr val="A8BBD3"/>
                </a:solidFill>
                <a:latin typeface="Arimo"/>
              </a:rPr>
              <a:t>המקור נשאר list of tuples; התוצאה יכולה להיות List של names.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Protected Core Task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98448"/>
            <a:ext cx="3840480" cy="3931920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36576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00" b="1">
                <a:solidFill>
                  <a:srgbClr val="DD3479"/>
                </a:solidFill>
                <a:latin typeface="Arimo"/>
              </a:rPr>
              <a:t>PROTECTED 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7824" y="1737360"/>
            <a:ext cx="3547872" cy="340156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200" b="0">
                <a:solidFill>
                  <a:srgbClr val="F2F7FF"/>
                </a:solidFill>
                <a:latin typeface="Arimo"/>
              </a:rPr>
              <a:t>Class Stats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92040" y="1371600"/>
            <a:ext cx="6035040" cy="356616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השתמשו ב-List of Tuples מסוג (name, score)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חשבו total score ידנית בלולאה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ספרו כמה scores הם לפחות 80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מצאו top_name ו-top_score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בנו List חדש של names עם score לפחות 85</a:t>
            </a:r>
          </a:p>
          <a:p>
            <a:pPr algn="r" rtl="1">
              <a:spcAft>
                <a:spcPts val="400"/>
              </a:spcAft>
            </a:pPr>
            <a:r>
              <a:rPr sz="1470">
                <a:solidFill>
                  <a:srgbClr val="F2F7FF"/>
                </a:solidFill>
                <a:latin typeface="Arimo"/>
              </a:rPr>
              <a:t>• הדפיסו פלט ידידותי והסבירו איזה state נשמר בכל pattern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5074920"/>
            <a:ext cx="594360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250" b="1">
                <a:solidFill>
                  <a:srgbClr val="F59F00"/>
                </a:solidFill>
                <a:latin typeface="Arimo"/>
              </a:rPr>
              <a:t>אין להשתמש ב-sum/max כדי לעקוף את tracing; המטרה היא algorithm pattern.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Evidence of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Trace state while scanning records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37160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46520" y="144475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01384" y="181051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Apply count/sum/max to a field inside each record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Keep related best-record state consistent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3063240"/>
            <a:ext cx="5074920" cy="1325880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46520" y="3136392"/>
            <a:ext cx="489204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1384" y="3502152"/>
            <a:ext cx="4782312" cy="795528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Generate a new structure from an existing 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00" b="0">
                <a:solidFill>
                  <a:srgbClr val="A8BBD3"/>
                </a:solidFill>
                <a:latin typeface="Arimo"/>
              </a:rPr>
              <a:t>M5 פותח את בלוק האלגוריתמים האחרון; M6 הוא checkpoint אינטגרטיבי.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בדיקת סיום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17320"/>
            <a:ext cx="4754880" cy="3246120"/>
          </a:xfrm>
          <a:prstGeom prst="roundRect">
            <a:avLst/>
          </a:prstGeom>
          <a:solidFill>
            <a:srgbClr val="113660"/>
          </a:solidFill>
          <a:ln>
            <a:solidFill>
              <a:srgbClr val="1857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46304" rIns="109728" tIns="109728" bIns="73152"/>
          <a:lstStyle/>
          <a:p>
            <a:pPr algn="l"/>
            <a:r>
              <a:rPr sz="1400">
                <a:solidFill>
                  <a:srgbClr val="F2F7FF"/>
                </a:solidFill>
                <a:latin typeface="DejaVu Sans Mono"/>
              </a:rPr>
              <a:t>records = [("Dana", 82), ("Ali", 91), ("Maya", 76)]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count = 0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for record in records: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if record[1] &gt;= 80: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        count += 1</a:t>
            </a:r>
            <a:br/>
            <a:r>
              <a:rPr sz="1400">
                <a:solidFill>
                  <a:srgbClr val="F2F7FF"/>
                </a:solidFill>
                <a:latin typeface="DejaVu Sans Mono"/>
              </a:rPr>
              <a:t>print(count)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417320"/>
            <a:ext cx="4846320" cy="50292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1800" b="1">
                <a:solidFill>
                  <a:srgbClr val="F2F7FF"/>
                </a:solidFill>
                <a:latin typeface="Arimo"/>
              </a:rPr>
              <a:t>מה יודפס?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2331720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00C1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2404872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00C1CE"/>
                </a:solidFill>
                <a:latin typeface="Arimo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18504" y="2770632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172968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F59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3246120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F59F00"/>
                </a:solidFill>
                <a:latin typeface="Arimo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8504" y="3611879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4014215"/>
            <a:ext cx="4526280" cy="658368"/>
          </a:xfrm>
          <a:prstGeom prst="roundRect">
            <a:avLst/>
          </a:prstGeom>
          <a:solidFill>
            <a:srgbClr val="0C2B4F"/>
          </a:solidFill>
          <a:ln>
            <a:solidFill>
              <a:srgbClr val="DD34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63640" y="4087368"/>
            <a:ext cx="4343400" cy="31089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100" b="1">
                <a:solidFill>
                  <a:srgbClr val="DD3479"/>
                </a:solidFill>
                <a:latin typeface="Arimo"/>
              </a:rPr>
              <a:t>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4453127"/>
            <a:ext cx="4233672" cy="128016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400" b="0">
                <a:solidFill>
                  <a:srgbClr val="F2F7FF"/>
                </a:solidFill>
                <a:latin typeface="Arimo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72200" y="5230368"/>
            <a:ext cx="4526280" cy="36576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250" b="0">
                <a:solidFill>
                  <a:srgbClr val="A8BBD3"/>
                </a:solidFill>
                <a:latin typeface="Arimo"/>
              </a:rPr>
              <a:t>אל תריצו לפני שבחרתם תשובה.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9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2400" b="1">
                <a:solidFill>
                  <a:srgbClr val="F2F7FF"/>
                </a:solidFill>
                <a:latin typeface="Arimo"/>
              </a:rPr>
              <a:t>מסיימים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31520"/>
            <a:ext cx="11155680" cy="25603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r" rtl="1"/>
            <a:r>
              <a:rPr sz="950" b="0">
                <a:solidFill>
                  <a:srgbClr val="A8BBD3"/>
                </a:solidFill>
                <a:latin typeface="Arimo"/>
              </a:rPr>
              <a:t>G9 · Python C · Unit 1 · Meeting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528816"/>
            <a:ext cx="1005840" cy="164592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l"/>
            <a:r>
              <a:rPr sz="800" b="0">
                <a:solidFill>
                  <a:srgbClr val="A8BBD3"/>
                </a:solidFill>
                <a:latin typeface="Arimo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10332720" cy="54864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2400" b="1">
                <a:solidFill>
                  <a:srgbClr val="00C1CE"/>
                </a:solidFill>
                <a:latin typeface="Arimo"/>
              </a:rPr>
              <a:t>record → field → state → derived structure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2743200"/>
            <a:ext cx="8503920" cy="2011680"/>
          </a:xfrm>
          <a:prstGeom prst="rect">
            <a:avLst/>
          </a:prstGeom>
          <a:noFill/>
        </p:spPr>
        <p:txBody>
          <a:bodyPr wrap="square" lIns="73152" rIns="73152" tIns="36576" bIns="36576">
            <a:spAutoFit/>
          </a:bodyPr>
          <a:lstStyle/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manual scan patterns transfer to nested data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best record may require multiple state variables</a:t>
            </a:r>
          </a:p>
          <a:p>
            <a:pPr algn="r" rtl="1">
              <a:spcAft>
                <a:spcPts val="400"/>
              </a:spcAft>
            </a:pPr>
            <a:r>
              <a:rPr sz="1600">
                <a:solidFill>
                  <a:srgbClr val="F2F7FF"/>
                </a:solidFill>
                <a:latin typeface="Arimo"/>
              </a:rPr>
              <a:t>• new data structure can be derived from the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166360"/>
            <a:ext cx="10332720" cy="411480"/>
          </a:xfrm>
          <a:prstGeom prst="rect">
            <a:avLst/>
          </a:prstGeom>
          <a:noFill/>
        </p:spPr>
        <p:txBody>
          <a:bodyPr wrap="square" lIns="54864" rIns="54864" tIns="54864" bIns="54864">
            <a:spAutoFit/>
          </a:bodyPr>
          <a:lstStyle/>
          <a:p>
            <a:pPr algn="ctr"/>
            <a:r>
              <a:rPr sz="1350" b="1">
                <a:solidFill>
                  <a:srgbClr val="F59F00"/>
                </a:solidFill>
                <a:latin typeface="Arimo"/>
              </a:rPr>
              <a:t>M6: Unit 1 checkpoint - representation + algorithm + explanation.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